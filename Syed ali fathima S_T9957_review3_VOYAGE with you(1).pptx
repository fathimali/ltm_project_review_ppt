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16764057" r:id="rId2"/>
    <p:sldId id="16764060" r:id="rId3"/>
    <p:sldId id="16764061" r:id="rId4"/>
    <p:sldId id="16764055" r:id="rId5"/>
    <p:sldId id="16764062" r:id="rId6"/>
    <p:sldId id="16764069" r:id="rId7"/>
    <p:sldId id="16764066" r:id="rId8"/>
    <p:sldId id="16764072" r:id="rId9"/>
    <p:sldId id="16764065" r:id="rId10"/>
    <p:sldId id="16764075" r:id="rId11"/>
    <p:sldId id="16764074" r:id="rId12"/>
    <p:sldId id="16764067" r:id="rId13"/>
    <p:sldId id="16764070" r:id="rId14"/>
    <p:sldId id="167640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p:cViewPr varScale="1">
        <p:scale>
          <a:sx n="59" d="100"/>
          <a:sy n="59" d="100"/>
        </p:scale>
        <p:origin x="68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p:cNvPicPr>
            <a:picLocks noChangeAspect="1" noChangeArrowheads="1"/>
          </p:cNvPicPr>
          <p:nvPr userDrawn="1"/>
        </p:nvPicPr>
        <p:blipFill>
          <a:blip r:embed="rId16" cstate="print">
            <a:extLst>
              <a:ext uri="{BEBA8EAE-BF5A-486C-A8C5-ECC9F3942E4B}">
                <a14:imgProps xmlns:a14="http://schemas.microsoft.com/office/drawing/2010/main">
                  <a14:imgLayer r:embed="rId17">
                    <a14:imgEffect>
                      <a14:brightnessContrast bright="-2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p:cNvSpPr txBox="1"/>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p:cNvSpPr txBox="1"/>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p:cNvSpPr txBox="1"/>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p:cNvSpPr txBox="1"/>
          <p:nvPr/>
        </p:nvSpPr>
        <p:spPr>
          <a:xfrm>
            <a:off x="180236" y="1659822"/>
            <a:ext cx="11428184" cy="48926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3600" b="1" dirty="0">
                <a:solidFill>
                  <a:schemeClr val="bg1"/>
                </a:solidFill>
                <a:cs typeface="Calibri" panose="020F0502020204030204" pitchFamily="34" charset="0"/>
              </a:rPr>
              <a:t>Review III</a:t>
            </a:r>
          </a:p>
          <a:p>
            <a:pPr lvl="0" algn="ctr">
              <a:defRPr/>
            </a:pPr>
            <a:r>
              <a:rPr kumimoji="0" lang="en-US" sz="3600" b="1"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AI Voyage Panner-Context Aware Travel Recommendations and Adaptive Scheduling</a:t>
            </a:r>
          </a:p>
          <a:p>
            <a:pPr lvl="0" algn="ctr">
              <a:defRPr/>
            </a:pPr>
            <a:endParaRPr lang="en-US" sz="2400" b="1" dirty="0">
              <a:solidFill>
                <a:schemeClr val="bg1"/>
              </a:solidFill>
              <a:cs typeface="Calibri" panose="020F0502020204030204" pitchFamily="34" charset="0"/>
            </a:endParaRPr>
          </a:p>
          <a:p>
            <a:pPr lvl="0" algn="ctr">
              <a:defRPr/>
            </a:pPr>
            <a:r>
              <a:rPr lang="en-US" sz="2400" b="1" dirty="0">
                <a:solidFill>
                  <a:schemeClr val="bg1"/>
                </a:solidFill>
                <a:cs typeface="Calibri" panose="020F0502020204030204" pitchFamily="34" charset="0"/>
              </a:rPr>
              <a:t>Team member</a:t>
            </a:r>
            <a:br>
              <a:rPr lang="en-US" sz="2400" b="1" dirty="0">
                <a:solidFill>
                  <a:schemeClr val="bg1"/>
                </a:solidFill>
                <a:cs typeface="Calibri" panose="020F0502020204030204" pitchFamily="34" charset="0"/>
              </a:rPr>
            </a:br>
            <a:r>
              <a:rPr lang="en-US" sz="2400" b="1" dirty="0">
                <a:solidFill>
                  <a:schemeClr val="bg1"/>
                </a:solidFill>
                <a:cs typeface="Calibri" panose="020F0502020204030204" pitchFamily="34" charset="0"/>
              </a:rPr>
              <a:t>Syed Ali Fathima</a:t>
            </a:r>
            <a:br>
              <a:rPr lang="en-US" sz="2400" b="1" dirty="0">
                <a:solidFill>
                  <a:schemeClr val="bg1"/>
                </a:solidFill>
                <a:cs typeface="Calibri" panose="020F0502020204030204" pitchFamily="34" charset="0"/>
              </a:rPr>
            </a:br>
            <a:r>
              <a:rPr lang="en-US" sz="2400" b="1" dirty="0">
                <a:solidFill>
                  <a:schemeClr val="bg1"/>
                </a:solidFill>
                <a:cs typeface="Calibri" panose="020F0502020204030204" pitchFamily="34" charset="0"/>
              </a:rPr>
              <a:t>T9957</a:t>
            </a:r>
          </a:p>
          <a:p>
            <a:pPr lvl="0" algn="ctr">
              <a:defRPr/>
            </a:pPr>
            <a:endParaRPr lang="en-US" sz="5400" b="1" dirty="0">
              <a:solidFill>
                <a:schemeClr val="bg1"/>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schemeClr val="bg1"/>
              </a:solidFill>
              <a:effectLst/>
              <a:uLnTx/>
              <a:uFillTx/>
              <a:latin typeface="Frutiger 45 bold"/>
              <a:ea typeface="+mn-ea"/>
              <a:cs typeface="Calibri" panose="020F0502020204030204" pitchFamily="34" charset="0"/>
            </a:endParaRPr>
          </a:p>
        </p:txBody>
      </p:sp>
      <p:graphicFrame>
        <p:nvGraphicFramePr>
          <p:cNvPr id="3" name="Table 2"/>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20000"/>
                    </a:ext>
                  </a:extLst>
                </a:gridCol>
                <a:gridCol w="6119608">
                  <a:extLst>
                    <a:ext uri="{9D8B030D-6E8A-4147-A177-3AD203B41FA5}">
                      <a16:colId xmlns:a16="http://schemas.microsoft.com/office/drawing/2014/main" val="20001"/>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459845" cy="4937760"/>
          </a:xfrm>
        </p:spPr>
        <p:txBody>
          <a:bodyPr/>
          <a:lstStyle/>
          <a:p>
            <a:pPr lvl="0" algn="just"/>
            <a:r>
              <a:rPr lang="en-US" altLang="en-GB" sz="2400" b="0" dirty="0">
                <a:solidFill>
                  <a:schemeClr val="tx1"/>
                </a:solidFill>
                <a:latin typeface="+mn-lt"/>
              </a:rPr>
              <a:t>Planning a trip manually requires searching multiple sources for destinations, attractions, restaurants, hotels, weather, and routes.</a:t>
            </a:r>
          </a:p>
          <a:p>
            <a:pPr lvl="0" algn="just"/>
            <a:r>
              <a:rPr lang="en-US" altLang="en-GB" sz="2400" b="0" dirty="0">
                <a:solidFill>
                  <a:schemeClr val="tx1"/>
                </a:solidFill>
                <a:latin typeface="+mn-lt"/>
              </a:rPr>
              <a:t>Generic travel plans may not consider the user's budget, interests, travel dates, number of travelers, and food preferences.</a:t>
            </a:r>
          </a:p>
          <a:p>
            <a:pPr lvl="0" algn="just"/>
            <a:r>
              <a:rPr lang="en-US" altLang="en-GB" sz="2400" b="0" dirty="0">
                <a:solidFill>
                  <a:schemeClr val="tx1"/>
                </a:solidFill>
                <a:latin typeface="+mn-lt"/>
              </a:rPr>
              <a:t>AI Voyage Planner uses Generative AI, RAG, and live location-based APIs to create personalized travel plans.</a:t>
            </a:r>
          </a:p>
          <a:p>
            <a:pPr lvl="0" algn="just"/>
            <a:r>
              <a:rPr lang="en-US" altLang="en-GB" sz="2400" b="0" dirty="0">
                <a:solidFill>
                  <a:schemeClr val="tx1"/>
                </a:solidFill>
                <a:latin typeface="+mn-lt"/>
              </a:rPr>
              <a:t>The system integrates Geoapify, OpenWeather, and route information to provide dynamic travel recommendations.</a:t>
            </a:r>
          </a:p>
          <a:p>
            <a:pPr lvl="0" algn="just"/>
            <a:r>
              <a:rPr lang="en-US" altLang="en-GB" sz="2400" b="0" dirty="0">
                <a:solidFill>
                  <a:schemeClr val="tx1"/>
                </a:solidFill>
                <a:latin typeface="+mn-lt"/>
              </a:rPr>
              <a:t>A React frontend and FastAPI backend are used to provide an interactive travel planning platform.</a:t>
            </a:r>
          </a:p>
          <a:p>
            <a:pPr lvl="0" algn="just"/>
            <a:r>
              <a:rPr lang="en-US" altLang="en-GB" sz="2400" b="0" dirty="0">
                <a:solidFill>
                  <a:schemeClr val="tx1"/>
                </a:solidFill>
                <a:latin typeface="+mn-lt"/>
              </a:rPr>
              <a:t>The system aims to make travel planning personalized, structured, and data-driven.</a:t>
            </a: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effectLst/>
                <a:uLnTx/>
                <a:uFillTx/>
                <a:latin typeface="Calibri" panose="020F0502020204030204"/>
                <a:ea typeface="+mn-ea"/>
                <a:cs typeface="+mn-cs"/>
              </a:rPr>
              <a:t>Introduction</a:t>
            </a: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064875" cy="4612005"/>
          </a:xfrm>
        </p:spPr>
        <p:txBody>
          <a:bodyPr/>
          <a:lstStyle/>
          <a:p>
            <a:pPr lvl="0" algn="just"/>
            <a:r>
              <a:rPr lang="en-US" altLang="en-GB" sz="2400" b="0" dirty="0">
                <a:solidFill>
                  <a:schemeClr val="tx1"/>
                </a:solidFill>
                <a:latin typeface="Calibri" panose="020F0502020204030204" pitchFamily="34" charset="0"/>
              </a:rPr>
              <a:t>To develop an AI-based personalized travel planning system.</a:t>
            </a:r>
          </a:p>
          <a:p>
            <a:pPr lvl="0" algn="just"/>
            <a:r>
              <a:rPr lang="en-US" altLang="en-GB" sz="2400" b="0" dirty="0">
                <a:solidFill>
                  <a:schemeClr val="tx1"/>
                </a:solidFill>
                <a:latin typeface="Calibri" panose="020F0502020204030204" pitchFamily="34" charset="0"/>
              </a:rPr>
              <a:t>To generate day-wise itineraries based on destination, duration, budget, interests, and number of travelers.</a:t>
            </a:r>
          </a:p>
          <a:p>
            <a:pPr lvl="0" algn="just"/>
            <a:r>
              <a:rPr lang="en-US" altLang="en-GB" sz="2400" b="0" dirty="0">
                <a:solidFill>
                  <a:schemeClr val="tx1"/>
                </a:solidFill>
                <a:latin typeface="Calibri" panose="020F0502020204030204" pitchFamily="34" charset="0"/>
              </a:rPr>
              <a:t>To retrieve real-world tourist places and restaurants using Geoapify APIs.</a:t>
            </a:r>
          </a:p>
          <a:p>
            <a:pPr lvl="0" algn="just"/>
            <a:r>
              <a:rPr lang="en-US" altLang="en-GB" sz="2400" b="0" dirty="0">
                <a:solidFill>
                  <a:schemeClr val="tx1"/>
                </a:solidFill>
                <a:latin typeface="Calibri" panose="020F0502020204030204" pitchFamily="34" charset="0"/>
              </a:rPr>
              <a:t>To provide weather information using the OpenWeather API.</a:t>
            </a:r>
          </a:p>
          <a:p>
            <a:pPr lvl="0" algn="just"/>
            <a:r>
              <a:rPr lang="en-US" altLang="en-GB" sz="2400" b="0" dirty="0">
                <a:solidFill>
                  <a:schemeClr val="tx1"/>
                </a:solidFill>
                <a:latin typeface="Calibri" panose="020F0502020204030204" pitchFamily="34" charset="0"/>
              </a:rPr>
              <a:t>To generate route information between the origin and destination.</a:t>
            </a:r>
          </a:p>
          <a:p>
            <a:pPr lvl="0" algn="just"/>
            <a:r>
              <a:rPr lang="en-US" altLang="en-GB" sz="2400" b="0" dirty="0">
                <a:solidFill>
                  <a:schemeClr val="tx1"/>
                </a:solidFill>
                <a:latin typeface="Calibri" panose="020F0502020204030204" pitchFamily="34" charset="0"/>
              </a:rPr>
              <a:t>To recommend hotels, restaurants, attractions, and local places.</a:t>
            </a:r>
          </a:p>
          <a:p>
            <a:pPr lvl="0" algn="just"/>
            <a:r>
              <a:rPr lang="en-US" altLang="en-GB" sz="2400" b="0" dirty="0">
                <a:solidFill>
                  <a:schemeClr val="tx1"/>
                </a:solidFill>
                <a:latin typeface="Calibri" panose="020F0502020204030204" pitchFamily="34" charset="0"/>
              </a:rPr>
              <a:t>To dynamically replan the itinerary based on changing user requirements.</a:t>
            </a:r>
          </a:p>
          <a:p>
            <a:pPr lvl="0" algn="just"/>
            <a:r>
              <a:rPr lang="en-US" altLang="en-GB" sz="2400" b="0" dirty="0">
                <a:solidFill>
                  <a:schemeClr val="tx1"/>
                </a:solidFill>
                <a:latin typeface="Calibri" panose="020F0502020204030204" pitchFamily="34" charset="0"/>
              </a:rPr>
              <a:t>To provide a user-friendly web interface using React and FastAPI.</a:t>
            </a:r>
          </a:p>
        </p:txBody>
      </p:sp>
      <p:sp>
        <p:nvSpPr>
          <p:cNvPr id="3" name="TextBox 2"/>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effectLst/>
                <a:uLnTx/>
                <a:uFillTx/>
                <a:latin typeface="Calibri" panose="020F0502020204030204"/>
                <a:ea typeface="+mn-ea"/>
                <a:cs typeface="+mn-cs"/>
              </a:rPr>
              <a:t>Objective</a:t>
            </a: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lvl="1"/>
            <a:endParaRPr lang="en-US" dirty="0">
              <a:solidFill>
                <a:srgbClr val="1C3898"/>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latin typeface="Calibri" panose="020F0502020204030204"/>
              </a:rPr>
              <a:t>Module name</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4" name="Straight Connector 3"/>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093893" y="57036"/>
            <a:ext cx="6098107" cy="646331"/>
          </a:xfrm>
          <a:prstGeom prst="rect">
            <a:avLst/>
          </a:prstGeom>
          <a:noFill/>
        </p:spPr>
        <p:txBody>
          <a:bodyPr wrap="square" rtlCol="0">
            <a:spAutoFit/>
          </a:bodyPr>
          <a:lstStyle/>
          <a:p>
            <a:r>
              <a:rPr lang="en-US" b="1" i="1" dirty="0">
                <a:solidFill>
                  <a:srgbClr val="FFFFFF"/>
                </a:solidFill>
              </a:rPr>
              <a:t>Project Title -  Calibri body 18</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18201829"/>
              </p:ext>
            </p:extLst>
          </p:nvPr>
        </p:nvGraphicFramePr>
        <p:xfrm>
          <a:off x="289121" y="1314100"/>
          <a:ext cx="11152680" cy="4302877"/>
        </p:xfrm>
        <a:graphic>
          <a:graphicData uri="http://schemas.openxmlformats.org/drawingml/2006/table">
            <a:tbl>
              <a:tblPr>
                <a:tableStyleId>{5C22544A-7EE6-4342-B048-85BDC9FD1C3A}</a:tableStyleId>
              </a:tblPr>
              <a:tblGrid>
                <a:gridCol w="3717560">
                  <a:extLst>
                    <a:ext uri="{9D8B030D-6E8A-4147-A177-3AD203B41FA5}">
                      <a16:colId xmlns:a16="http://schemas.microsoft.com/office/drawing/2014/main" val="20000"/>
                    </a:ext>
                  </a:extLst>
                </a:gridCol>
                <a:gridCol w="3717560">
                  <a:extLst>
                    <a:ext uri="{9D8B030D-6E8A-4147-A177-3AD203B41FA5}">
                      <a16:colId xmlns:a16="http://schemas.microsoft.com/office/drawing/2014/main" val="20001"/>
                    </a:ext>
                  </a:extLst>
                </a:gridCol>
                <a:gridCol w="3717560">
                  <a:extLst>
                    <a:ext uri="{9D8B030D-6E8A-4147-A177-3AD203B41FA5}">
                      <a16:colId xmlns:a16="http://schemas.microsoft.com/office/drawing/2014/main" val="20002"/>
                    </a:ext>
                  </a:extLst>
                </a:gridCol>
              </a:tblGrid>
              <a:tr h="246483">
                <a:tc>
                  <a:txBody>
                    <a:bodyPr/>
                    <a:lstStyle/>
                    <a:p>
                      <a:pPr algn="ctr"/>
                      <a:r>
                        <a:rPr sz="1100"/>
                        <a:t>S.No</a:t>
                      </a:r>
                    </a:p>
                  </a:txBody>
                  <a:tcPr marL="0" marR="0" marT="0" marB="0" anchor="ctr"/>
                </a:tc>
                <a:tc>
                  <a:txBody>
                    <a:bodyPr/>
                    <a:lstStyle/>
                    <a:p>
                      <a:pPr algn="ctr"/>
                      <a:r>
                        <a:rPr sz="1100"/>
                        <a:t>Module Name</a:t>
                      </a:r>
                    </a:p>
                  </a:txBody>
                  <a:tcPr marL="0" marR="0" marT="0" marB="0" anchor="ctr"/>
                </a:tc>
                <a:tc>
                  <a:txBody>
                    <a:bodyPr/>
                    <a:lstStyle/>
                    <a:p>
                      <a:pPr algn="ctr"/>
                      <a:r>
                        <a:rPr sz="1100"/>
                        <a:t>Description</a:t>
                      </a:r>
                    </a:p>
                  </a:txBody>
                  <a:tcPr marL="0" marR="0" marT="0" marB="0" anchor="ctr"/>
                </a:tc>
                <a:extLst>
                  <a:ext uri="{0D108BD9-81ED-4DB2-BD59-A6C34878D82A}">
                    <a16:rowId xmlns:a16="http://schemas.microsoft.com/office/drawing/2014/main" val="10000"/>
                  </a:ext>
                </a:extLst>
              </a:tr>
              <a:tr h="449192">
                <a:tc>
                  <a:txBody>
                    <a:bodyPr/>
                    <a:lstStyle/>
                    <a:p>
                      <a:pPr algn="ctr"/>
                      <a:r>
                        <a:rPr sz="1100"/>
                        <a:t>1</a:t>
                      </a:r>
                    </a:p>
                  </a:txBody>
                  <a:tcPr marL="0" marR="0" marT="0" marB="0" anchor="ctr"/>
                </a:tc>
                <a:tc>
                  <a:txBody>
                    <a:bodyPr/>
                    <a:lstStyle/>
                    <a:p>
                      <a:pPr algn="ctr"/>
                      <a:r>
                        <a:rPr sz="1100"/>
                        <a:t>User Input</a:t>
                      </a:r>
                    </a:p>
                  </a:txBody>
                  <a:tcPr marL="0" marR="0" marT="0" marB="0" anchor="ctr"/>
                </a:tc>
                <a:tc>
                  <a:txBody>
                    <a:bodyPr/>
                    <a:lstStyle/>
                    <a:p>
                      <a:pPr algn="ctr"/>
                      <a:r>
                        <a:rPr sz="1100"/>
                        <a:t>Accepts origin, destination, dates, travelers, budget and interests</a:t>
                      </a:r>
                    </a:p>
                  </a:txBody>
                  <a:tcPr marL="0" marR="0" marT="0" marB="0" anchor="ctr"/>
                </a:tc>
                <a:extLst>
                  <a:ext uri="{0D108BD9-81ED-4DB2-BD59-A6C34878D82A}">
                    <a16:rowId xmlns:a16="http://schemas.microsoft.com/office/drawing/2014/main" val="10001"/>
                  </a:ext>
                </a:extLst>
              </a:tr>
              <a:tr h="449192">
                <a:tc>
                  <a:txBody>
                    <a:bodyPr/>
                    <a:lstStyle/>
                    <a:p>
                      <a:pPr algn="ctr"/>
                      <a:r>
                        <a:rPr sz="1100"/>
                        <a:t>2</a:t>
                      </a:r>
                    </a:p>
                  </a:txBody>
                  <a:tcPr marL="0" marR="0" marT="0" marB="0" anchor="ctr"/>
                </a:tc>
                <a:tc>
                  <a:txBody>
                    <a:bodyPr/>
                    <a:lstStyle/>
                    <a:p>
                      <a:pPr algn="ctr"/>
                      <a:r>
                        <a:rPr sz="1100"/>
                        <a:t>Destination Processing</a:t>
                      </a:r>
                    </a:p>
                  </a:txBody>
                  <a:tcPr marL="0" marR="0" marT="0" marB="0" anchor="ctr"/>
                </a:tc>
                <a:tc>
                  <a:txBody>
                    <a:bodyPr/>
                    <a:lstStyle/>
                    <a:p>
                      <a:pPr algn="ctr"/>
                      <a:r>
                        <a:rPr sz="1100"/>
                        <a:t>Identifies and processes the selected destination</a:t>
                      </a:r>
                    </a:p>
                  </a:txBody>
                  <a:tcPr marL="0" marR="0" marT="0" marB="0" anchor="ctr"/>
                </a:tc>
                <a:extLst>
                  <a:ext uri="{0D108BD9-81ED-4DB2-BD59-A6C34878D82A}">
                    <a16:rowId xmlns:a16="http://schemas.microsoft.com/office/drawing/2014/main" val="10002"/>
                  </a:ext>
                </a:extLst>
              </a:tr>
              <a:tr h="449192">
                <a:tc>
                  <a:txBody>
                    <a:bodyPr/>
                    <a:lstStyle/>
                    <a:p>
                      <a:pPr algn="ctr"/>
                      <a:r>
                        <a:rPr sz="1100"/>
                        <a:t>3</a:t>
                      </a:r>
                    </a:p>
                  </a:txBody>
                  <a:tcPr marL="0" marR="0" marT="0" marB="0" anchor="ctr"/>
                </a:tc>
                <a:tc>
                  <a:txBody>
                    <a:bodyPr/>
                    <a:lstStyle/>
                    <a:p>
                      <a:pPr algn="ctr"/>
                      <a:r>
                        <a:rPr sz="1100"/>
                        <a:t>Live Places Retrieval</a:t>
                      </a:r>
                    </a:p>
                  </a:txBody>
                  <a:tcPr marL="0" marR="0" marT="0" marB="0" anchor="ctr"/>
                </a:tc>
                <a:tc>
                  <a:txBody>
                    <a:bodyPr/>
                    <a:lstStyle/>
                    <a:p>
                      <a:pPr algn="ctr"/>
                      <a:r>
                        <a:rPr sz="1100"/>
                        <a:t>Retrieves real tourist places using Geoapify</a:t>
                      </a:r>
                    </a:p>
                  </a:txBody>
                  <a:tcPr marL="0" marR="0" marT="0" marB="0" anchor="ctr"/>
                </a:tc>
                <a:extLst>
                  <a:ext uri="{0D108BD9-81ED-4DB2-BD59-A6C34878D82A}">
                    <a16:rowId xmlns:a16="http://schemas.microsoft.com/office/drawing/2014/main" val="10003"/>
                  </a:ext>
                </a:extLst>
              </a:tr>
              <a:tr h="449192">
                <a:tc>
                  <a:txBody>
                    <a:bodyPr/>
                    <a:lstStyle/>
                    <a:p>
                      <a:pPr algn="ctr"/>
                      <a:r>
                        <a:rPr sz="1100"/>
                        <a:t>4</a:t>
                      </a:r>
                    </a:p>
                  </a:txBody>
                  <a:tcPr marL="0" marR="0" marT="0" marB="0" anchor="ctr"/>
                </a:tc>
                <a:tc>
                  <a:txBody>
                    <a:bodyPr/>
                    <a:lstStyle/>
                    <a:p>
                      <a:pPr algn="ctr"/>
                      <a:r>
                        <a:rPr sz="1100"/>
                        <a:t>Restaurant Recommendation</a:t>
                      </a:r>
                    </a:p>
                  </a:txBody>
                  <a:tcPr marL="0" marR="0" marT="0" marB="0" anchor="ctr"/>
                </a:tc>
                <a:tc>
                  <a:txBody>
                    <a:bodyPr/>
                    <a:lstStyle/>
                    <a:p>
                      <a:pPr algn="ctr"/>
                      <a:r>
                        <a:rPr sz="1100"/>
                        <a:t>Provides breakfast, lunch and dinner recommendations</a:t>
                      </a:r>
                    </a:p>
                  </a:txBody>
                  <a:tcPr marL="0" marR="0" marT="0" marB="0" anchor="ctr"/>
                </a:tc>
                <a:extLst>
                  <a:ext uri="{0D108BD9-81ED-4DB2-BD59-A6C34878D82A}">
                    <a16:rowId xmlns:a16="http://schemas.microsoft.com/office/drawing/2014/main" val="10004"/>
                  </a:ext>
                </a:extLst>
              </a:tr>
              <a:tr h="449192">
                <a:tc>
                  <a:txBody>
                    <a:bodyPr/>
                    <a:lstStyle/>
                    <a:p>
                      <a:pPr algn="ctr"/>
                      <a:r>
                        <a:rPr sz="1100"/>
                        <a:t>5</a:t>
                      </a:r>
                    </a:p>
                  </a:txBody>
                  <a:tcPr marL="0" marR="0" marT="0" marB="0" anchor="ctr"/>
                </a:tc>
                <a:tc>
                  <a:txBody>
                    <a:bodyPr/>
                    <a:lstStyle/>
                    <a:p>
                      <a:pPr algn="ctr"/>
                      <a:r>
                        <a:rPr sz="1100"/>
                        <a:t>Weather Information</a:t>
                      </a:r>
                    </a:p>
                  </a:txBody>
                  <a:tcPr marL="0" marR="0" marT="0" marB="0" anchor="ctr"/>
                </a:tc>
                <a:tc>
                  <a:txBody>
                    <a:bodyPr/>
                    <a:lstStyle/>
                    <a:p>
                      <a:pPr algn="ctr"/>
                      <a:r>
                        <a:rPr sz="1100"/>
                        <a:t>Retrieves destination weather information</a:t>
                      </a:r>
                    </a:p>
                  </a:txBody>
                  <a:tcPr marL="0" marR="0" marT="0" marB="0" anchor="ctr"/>
                </a:tc>
                <a:extLst>
                  <a:ext uri="{0D108BD9-81ED-4DB2-BD59-A6C34878D82A}">
                    <a16:rowId xmlns:a16="http://schemas.microsoft.com/office/drawing/2014/main" val="10005"/>
                  </a:ext>
                </a:extLst>
              </a:tr>
              <a:tr h="603478">
                <a:tc>
                  <a:txBody>
                    <a:bodyPr/>
                    <a:lstStyle/>
                    <a:p>
                      <a:pPr algn="ctr"/>
                      <a:r>
                        <a:rPr sz="1100"/>
                        <a:t>6</a:t>
                      </a:r>
                    </a:p>
                  </a:txBody>
                  <a:tcPr marL="0" marR="0" marT="0" marB="0" anchor="ctr"/>
                </a:tc>
                <a:tc>
                  <a:txBody>
                    <a:bodyPr/>
                    <a:lstStyle/>
                    <a:p>
                      <a:pPr algn="ctr"/>
                      <a:r>
                        <a:rPr sz="1100"/>
                        <a:t>Route Planning</a:t>
                      </a:r>
                    </a:p>
                  </a:txBody>
                  <a:tcPr marL="0" marR="0" marT="0" marB="0" anchor="ctr"/>
                </a:tc>
                <a:tc>
                  <a:txBody>
                    <a:bodyPr/>
                    <a:lstStyle/>
                    <a:p>
                      <a:pPr algn="ctr"/>
                      <a:r>
                        <a:rPr sz="1100"/>
                        <a:t>Calculates route and distance between origin and destination</a:t>
                      </a:r>
                    </a:p>
                  </a:txBody>
                  <a:tcPr marL="0" marR="0" marT="0" marB="0" anchor="ctr"/>
                </a:tc>
                <a:extLst>
                  <a:ext uri="{0D108BD9-81ED-4DB2-BD59-A6C34878D82A}">
                    <a16:rowId xmlns:a16="http://schemas.microsoft.com/office/drawing/2014/main" val="10006"/>
                  </a:ext>
                </a:extLst>
              </a:tr>
              <a:tr h="603478">
                <a:tc>
                  <a:txBody>
                    <a:bodyPr/>
                    <a:lstStyle/>
                    <a:p>
                      <a:pPr algn="ctr"/>
                      <a:r>
                        <a:rPr sz="1100"/>
                        <a:t>7</a:t>
                      </a:r>
                    </a:p>
                  </a:txBody>
                  <a:tcPr marL="0" marR="0" marT="0" marB="0" anchor="ctr"/>
                </a:tc>
                <a:tc>
                  <a:txBody>
                    <a:bodyPr/>
                    <a:lstStyle/>
                    <a:p>
                      <a:pPr algn="ctr"/>
                      <a:r>
                        <a:rPr sz="1100"/>
                        <a:t>Smart Itinerary Generation</a:t>
                      </a:r>
                    </a:p>
                  </a:txBody>
                  <a:tcPr marL="0" marR="0" marT="0" marB="0" anchor="ctr"/>
                </a:tc>
                <a:tc>
                  <a:txBody>
                    <a:bodyPr/>
                    <a:lstStyle/>
                    <a:p>
                      <a:pPr algn="ctr"/>
                      <a:r>
                        <a:rPr sz="1100"/>
                        <a:t>Creates morning, afternoon and evening activities</a:t>
                      </a:r>
                    </a:p>
                  </a:txBody>
                  <a:tcPr marL="0" marR="0" marT="0" marB="0" anchor="ctr"/>
                </a:tc>
                <a:extLst>
                  <a:ext uri="{0D108BD9-81ED-4DB2-BD59-A6C34878D82A}">
                    <a16:rowId xmlns:a16="http://schemas.microsoft.com/office/drawing/2014/main" val="10007"/>
                  </a:ext>
                </a:extLst>
              </a:tr>
              <a:tr h="603478">
                <a:tc>
                  <a:txBody>
                    <a:bodyPr/>
                    <a:lstStyle/>
                    <a:p>
                      <a:pPr algn="ctr"/>
                      <a:r>
                        <a:rPr sz="1100"/>
                        <a:t>8</a:t>
                      </a:r>
                    </a:p>
                  </a:txBody>
                  <a:tcPr marL="0" marR="0" marT="0" marB="0" anchor="ctr"/>
                </a:tc>
                <a:tc>
                  <a:txBody>
                    <a:bodyPr/>
                    <a:lstStyle/>
                    <a:p>
                      <a:pPr algn="ctr"/>
                      <a:r>
                        <a:rPr sz="1100"/>
                        <a:t>Hotel &amp; Local Place Recommendation</a:t>
                      </a:r>
                    </a:p>
                  </a:txBody>
                  <a:tcPr marL="0" marR="0" marT="0" marB="0" anchor="ctr"/>
                </a:tc>
                <a:tc>
                  <a:txBody>
                    <a:bodyPr/>
                    <a:lstStyle/>
                    <a:p>
                      <a:pPr algn="ctr"/>
                      <a:r>
                        <a:rPr sz="1100" dirty="0"/>
                        <a:t>Displays available hotels and local places</a:t>
                      </a:r>
                    </a:p>
                  </a:txBody>
                  <a:tcPr marL="0" marR="0" marT="0" marB="0" anchor="ct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134725" cy="4422775"/>
          </a:xfrm>
        </p:spPr>
        <p:txBody>
          <a:bodyPr/>
          <a:lstStyle/>
          <a:p>
            <a:pPr lvl="0" algn="just"/>
            <a:r>
              <a:rPr lang="en-US" altLang="en-GB" sz="2400" b="0" dirty="0">
                <a:solidFill>
                  <a:schemeClr val="tx1"/>
                </a:solidFill>
                <a:latin typeface="+mn-lt"/>
              </a:rPr>
              <a:t>Travel planning requires information from multiple platforms.</a:t>
            </a:r>
          </a:p>
          <a:p>
            <a:pPr lvl="0" algn="just"/>
            <a:r>
              <a:rPr lang="en-US" altLang="en-GB" sz="2400" b="0" dirty="0">
                <a:solidFill>
                  <a:schemeClr val="tx1"/>
                </a:solidFill>
                <a:latin typeface="+mn-lt"/>
              </a:rPr>
              <a:t>Users need to manually compare destinations, attractions, restaurants, hotels and transportation.</a:t>
            </a:r>
          </a:p>
          <a:p>
            <a:pPr lvl="0" algn="just"/>
            <a:r>
              <a:rPr lang="en-US" altLang="en-GB" sz="2400" b="0" dirty="0">
                <a:solidFill>
                  <a:schemeClr val="tx1"/>
                </a:solidFill>
                <a:latin typeface="+mn-lt"/>
              </a:rPr>
              <a:t>Existing travel planners often provide generic itineraries instead of highly personalized plans.</a:t>
            </a:r>
          </a:p>
          <a:p>
            <a:pPr lvl="0" algn="just"/>
            <a:r>
              <a:rPr lang="en-US" altLang="en-GB" sz="2400" b="0" dirty="0">
                <a:solidFill>
                  <a:schemeClr val="tx1"/>
                </a:solidFill>
                <a:latin typeface="+mn-lt"/>
              </a:rPr>
              <a:t>Static travel plans cannot easily adapt when user requirements change.</a:t>
            </a:r>
          </a:p>
          <a:p>
            <a:pPr lvl="0" algn="just"/>
            <a:r>
              <a:rPr lang="en-US" altLang="en-GB" sz="2400" b="0" dirty="0">
                <a:solidFill>
                  <a:schemeClr val="tx1"/>
                </a:solidFill>
                <a:latin typeface="+mn-lt"/>
              </a:rPr>
              <a:t>Live information such as weather, routes and nearby places must be obtained from external sources.</a:t>
            </a:r>
          </a:p>
          <a:p>
            <a:pPr lvl="0" algn="just"/>
            <a:r>
              <a:rPr lang="en-US" altLang="en-GB" sz="2400" b="0" dirty="0">
                <a:solidFill>
                  <a:schemeClr val="tx1"/>
                </a:solidFill>
                <a:latin typeface="+mn-lt"/>
              </a:rPr>
              <a:t>Therefore, there is a need for an AI-powered travel planner that combines personalization, retrieval, live APIs and dynamic itinerary generation.</a:t>
            </a: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Problem Statement</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Methodology</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8" name="Picture 7"/>
          <p:cNvPicPr/>
          <p:nvPr/>
        </p:nvPicPr>
        <p:blipFill>
          <a:blip r:embed="rId2"/>
          <a:srcRect t="4354" r="2972"/>
          <a:stretch>
            <a:fillRect/>
          </a:stretch>
        </p:blipFill>
        <p:spPr>
          <a:xfrm>
            <a:off x="-365125" y="0"/>
            <a:ext cx="13143230" cy="80479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Algorithms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p:cNvGraphicFramePr>
            <a:graphicFrameLocks noGrp="1"/>
          </p:cNvGraphicFramePr>
          <p:nvPr>
            <p:custDataLst>
              <p:tags r:id="rId1"/>
            </p:custDataLst>
          </p:nvPr>
        </p:nvGraphicFramePr>
        <p:xfrm>
          <a:off x="255905" y="1371600"/>
          <a:ext cx="11004550" cy="3596005"/>
        </p:xfrm>
        <a:graphic>
          <a:graphicData uri="http://schemas.openxmlformats.org/drawingml/2006/table">
            <a:tbl>
              <a:tblPr>
                <a:tableStyleId>{5C22544A-7EE6-4342-B048-85BDC9FD1C3A}</a:tableStyleId>
              </a:tblPr>
              <a:tblGrid>
                <a:gridCol w="3668395">
                  <a:extLst>
                    <a:ext uri="{9D8B030D-6E8A-4147-A177-3AD203B41FA5}">
                      <a16:colId xmlns:a16="http://schemas.microsoft.com/office/drawing/2014/main" val="20000"/>
                    </a:ext>
                  </a:extLst>
                </a:gridCol>
                <a:gridCol w="3667760">
                  <a:extLst>
                    <a:ext uri="{9D8B030D-6E8A-4147-A177-3AD203B41FA5}">
                      <a16:colId xmlns:a16="http://schemas.microsoft.com/office/drawing/2014/main" val="20001"/>
                    </a:ext>
                  </a:extLst>
                </a:gridCol>
                <a:gridCol w="3668395">
                  <a:extLst>
                    <a:ext uri="{9D8B030D-6E8A-4147-A177-3AD203B41FA5}">
                      <a16:colId xmlns:a16="http://schemas.microsoft.com/office/drawing/2014/main" val="20002"/>
                    </a:ext>
                  </a:extLst>
                </a:gridCol>
              </a:tblGrid>
              <a:tr h="359410">
                <a:tc>
                  <a:txBody>
                    <a:bodyPr/>
                    <a:lstStyle/>
                    <a:p>
                      <a:pPr algn="ctr"/>
                      <a:r>
                        <a:rPr sz="1100" b="1"/>
                        <a:t>Step</a:t>
                      </a:r>
                    </a:p>
                  </a:txBody>
                  <a:tcPr marL="0" marR="0" marT="0" marB="0" anchor="ctr"/>
                </a:tc>
                <a:tc>
                  <a:txBody>
                    <a:bodyPr/>
                    <a:lstStyle/>
                    <a:p>
                      <a:pPr algn="ctr"/>
                      <a:r>
                        <a:rPr sz="1100" b="1"/>
                        <a:t>Process</a:t>
                      </a:r>
                    </a:p>
                  </a:txBody>
                  <a:tcPr marL="0" marR="0" marT="0" marB="0" anchor="ctr"/>
                </a:tc>
                <a:tc>
                  <a:txBody>
                    <a:bodyPr/>
                    <a:lstStyle/>
                    <a:p>
                      <a:pPr algn="ctr"/>
                      <a:r>
                        <a:rPr sz="1100" b="1"/>
                        <a:t>Description</a:t>
                      </a:r>
                    </a:p>
                  </a:txBody>
                  <a:tcPr marL="0" marR="0" marT="0" marB="0" anchor="ctr"/>
                </a:tc>
                <a:extLst>
                  <a:ext uri="{0D108BD9-81ED-4DB2-BD59-A6C34878D82A}">
                    <a16:rowId xmlns:a16="http://schemas.microsoft.com/office/drawing/2014/main" val="10000"/>
                  </a:ext>
                </a:extLst>
              </a:tr>
              <a:tr h="719455">
                <a:tc>
                  <a:txBody>
                    <a:bodyPr/>
                    <a:lstStyle/>
                    <a:p>
                      <a:pPr algn="ctr"/>
                      <a:r>
                        <a:rPr sz="1100"/>
                        <a:t>1</a:t>
                      </a:r>
                    </a:p>
                  </a:txBody>
                  <a:tcPr marL="0" marR="0" marT="0" marB="0" anchor="ctr"/>
                </a:tc>
                <a:tc>
                  <a:txBody>
                    <a:bodyPr/>
                    <a:lstStyle/>
                    <a:p>
                      <a:pPr algn="ctr"/>
                      <a:r>
                        <a:rPr sz="1100"/>
                        <a:t>User Input</a:t>
                      </a:r>
                    </a:p>
                  </a:txBody>
                  <a:tcPr marL="0" marR="0" marT="0" marB="0" anchor="ctr"/>
                </a:tc>
                <a:tc>
                  <a:txBody>
                    <a:bodyPr/>
                    <a:lstStyle/>
                    <a:p>
                      <a:pPr algn="ctr"/>
                      <a:r>
                        <a:rPr sz="1100"/>
                        <a:t>Collect origin, destination, travel dates, number of travelers, budget, interests and food preference.</a:t>
                      </a:r>
                    </a:p>
                  </a:txBody>
                  <a:tcPr marL="0" marR="0" marT="0" marB="0" anchor="ctr"/>
                </a:tc>
                <a:extLst>
                  <a:ext uri="{0D108BD9-81ED-4DB2-BD59-A6C34878D82A}">
                    <a16:rowId xmlns:a16="http://schemas.microsoft.com/office/drawing/2014/main" val="10001"/>
                  </a:ext>
                </a:extLst>
              </a:tr>
              <a:tr h="359410">
                <a:tc>
                  <a:txBody>
                    <a:bodyPr/>
                    <a:lstStyle/>
                    <a:p>
                      <a:pPr algn="ctr"/>
                      <a:r>
                        <a:rPr sz="1100"/>
                        <a:t>2</a:t>
                      </a:r>
                    </a:p>
                  </a:txBody>
                  <a:tcPr marL="0" marR="0" marT="0" marB="0" anchor="ctr"/>
                </a:tc>
                <a:tc>
                  <a:txBody>
                    <a:bodyPr/>
                    <a:lstStyle/>
                    <a:p>
                      <a:pPr algn="ctr"/>
                      <a:r>
                        <a:rPr sz="1100"/>
                        <a:t>Trip Preprocessing</a:t>
                      </a:r>
                    </a:p>
                  </a:txBody>
                  <a:tcPr marL="0" marR="0" marT="0" marB="0" anchor="ctr"/>
                </a:tc>
                <a:tc>
                  <a:txBody>
                    <a:bodyPr/>
                    <a:lstStyle/>
                    <a:p>
                      <a:pPr algn="ctr"/>
                      <a:r>
                        <a:rPr sz="1100"/>
                        <a:t>Validate trip details and calculate the trip duration.</a:t>
                      </a:r>
                    </a:p>
                  </a:txBody>
                  <a:tcPr marL="0" marR="0" marT="0" marB="0" anchor="ctr"/>
                </a:tc>
                <a:extLst>
                  <a:ext uri="{0D108BD9-81ED-4DB2-BD59-A6C34878D82A}">
                    <a16:rowId xmlns:a16="http://schemas.microsoft.com/office/drawing/2014/main" val="10002"/>
                  </a:ext>
                </a:extLst>
              </a:tr>
              <a:tr h="719455">
                <a:tc>
                  <a:txBody>
                    <a:bodyPr/>
                    <a:lstStyle/>
                    <a:p>
                      <a:pPr algn="ctr"/>
                      <a:r>
                        <a:rPr sz="1100"/>
                        <a:t>3</a:t>
                      </a:r>
                    </a:p>
                  </a:txBody>
                  <a:tcPr marL="0" marR="0" marT="0" marB="0" anchor="ctr"/>
                </a:tc>
                <a:tc>
                  <a:txBody>
                    <a:bodyPr/>
                    <a:lstStyle/>
                    <a:p>
                      <a:pPr algn="ctr"/>
                      <a:r>
                        <a:rPr sz="1100"/>
                        <a:t>Live Data Retrieval</a:t>
                      </a:r>
                    </a:p>
                  </a:txBody>
                  <a:tcPr marL="0" marR="0" marT="0" marB="0" anchor="ctr"/>
                </a:tc>
                <a:tc>
                  <a:txBody>
                    <a:bodyPr/>
                    <a:lstStyle/>
                    <a:p>
                      <a:pPr algn="ctr"/>
                      <a:r>
                        <a:rPr sz="1100"/>
                        <a:t>Retrieve real tourist places, restaurants, hotels and local places using Geoapify API.</a:t>
                      </a:r>
                    </a:p>
                  </a:txBody>
                  <a:tcPr marL="0" marR="0" marT="0" marB="0" anchor="ctr"/>
                </a:tc>
                <a:extLst>
                  <a:ext uri="{0D108BD9-81ED-4DB2-BD59-A6C34878D82A}">
                    <a16:rowId xmlns:a16="http://schemas.microsoft.com/office/drawing/2014/main" val="10003"/>
                  </a:ext>
                </a:extLst>
              </a:tr>
              <a:tr h="718820">
                <a:tc>
                  <a:txBody>
                    <a:bodyPr/>
                    <a:lstStyle/>
                    <a:p>
                      <a:pPr algn="ctr"/>
                      <a:r>
                        <a:rPr sz="1100"/>
                        <a:t>4</a:t>
                      </a:r>
                    </a:p>
                  </a:txBody>
                  <a:tcPr marL="0" marR="0" marT="0" marB="0" anchor="ctr"/>
                </a:tc>
                <a:tc>
                  <a:txBody>
                    <a:bodyPr/>
                    <a:lstStyle/>
                    <a:p>
                      <a:pPr algn="ctr"/>
                      <a:r>
                        <a:rPr sz="1100"/>
                        <a:t>Knowledge Retrieval</a:t>
                      </a:r>
                    </a:p>
                  </a:txBody>
                  <a:tcPr marL="0" marR="0" marT="0" marB="0" anchor="ctr"/>
                </a:tc>
                <a:tc>
                  <a:txBody>
                    <a:bodyPr/>
                    <a:lstStyle/>
                    <a:p>
                      <a:pPr algn="ctr"/>
                      <a:r>
                        <a:rPr sz="1100"/>
                        <a:t>Retrieve relevant information from the available dataset / RAG knowledge base.</a:t>
                      </a:r>
                    </a:p>
                  </a:txBody>
                  <a:tcPr marL="0" marR="0" marT="0" marB="0" anchor="ctr"/>
                </a:tc>
                <a:extLst>
                  <a:ext uri="{0D108BD9-81ED-4DB2-BD59-A6C34878D82A}">
                    <a16:rowId xmlns:a16="http://schemas.microsoft.com/office/drawing/2014/main" val="10004"/>
                  </a:ext>
                </a:extLst>
              </a:tr>
              <a:tr h="719455">
                <a:tc>
                  <a:txBody>
                    <a:bodyPr/>
                    <a:lstStyle/>
                    <a:p>
                      <a:pPr algn="ctr"/>
                      <a:r>
                        <a:rPr sz="1100"/>
                        <a:t>5</a:t>
                      </a:r>
                    </a:p>
                  </a:txBody>
                  <a:tcPr marL="0" marR="0" marT="0" marB="0" anchor="ctr"/>
                </a:tc>
                <a:tc>
                  <a:txBody>
                    <a:bodyPr/>
                    <a:lstStyle/>
                    <a:p>
                      <a:pPr algn="ctr"/>
                      <a:r>
                        <a:rPr sz="1100"/>
                        <a:t>Context Formation</a:t>
                      </a:r>
                    </a:p>
                  </a:txBody>
                  <a:tcPr marL="0" marR="0" marT="0" marB="0" anchor="ctr"/>
                </a:tc>
                <a:tc>
                  <a:txBody>
                    <a:bodyPr/>
                    <a:lstStyle/>
                    <a:p>
                      <a:pPr algn="ctr"/>
                      <a:r>
                        <a:rPr sz="1100"/>
                        <a:t>Combine retrieved knowledge with live API data and user preferences.</a:t>
                      </a:r>
                    </a:p>
                  </a:txBody>
                  <a:tcPr marL="0" marR="0" marT="0" marB="0"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latin typeface="+mn-lt"/>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Algorithms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p:cNvGraphicFramePr>
            <a:graphicFrameLocks noGrp="1"/>
          </p:cNvGraphicFramePr>
          <p:nvPr>
            <p:custDataLst>
              <p:tags r:id="rId1"/>
            </p:custDataLst>
            <p:extLst>
              <p:ext uri="{D42A27DB-BD31-4B8C-83A1-F6EECF244321}">
                <p14:modId xmlns:p14="http://schemas.microsoft.com/office/powerpoint/2010/main" val="1452217669"/>
              </p:ext>
            </p:extLst>
          </p:nvPr>
        </p:nvGraphicFramePr>
        <p:xfrm>
          <a:off x="255905" y="1468120"/>
          <a:ext cx="11004550" cy="3832860"/>
        </p:xfrm>
        <a:graphic>
          <a:graphicData uri="http://schemas.openxmlformats.org/drawingml/2006/table">
            <a:tbl>
              <a:tblPr>
                <a:tableStyleId>{5C22544A-7EE6-4342-B048-85BDC9FD1C3A}</a:tableStyleId>
              </a:tblPr>
              <a:tblGrid>
                <a:gridCol w="3668395">
                  <a:extLst>
                    <a:ext uri="{9D8B030D-6E8A-4147-A177-3AD203B41FA5}">
                      <a16:colId xmlns:a16="http://schemas.microsoft.com/office/drawing/2014/main" val="20000"/>
                    </a:ext>
                  </a:extLst>
                </a:gridCol>
                <a:gridCol w="3667760">
                  <a:extLst>
                    <a:ext uri="{9D8B030D-6E8A-4147-A177-3AD203B41FA5}">
                      <a16:colId xmlns:a16="http://schemas.microsoft.com/office/drawing/2014/main" val="20001"/>
                    </a:ext>
                  </a:extLst>
                </a:gridCol>
                <a:gridCol w="3668395">
                  <a:extLst>
                    <a:ext uri="{9D8B030D-6E8A-4147-A177-3AD203B41FA5}">
                      <a16:colId xmlns:a16="http://schemas.microsoft.com/office/drawing/2014/main" val="20002"/>
                    </a:ext>
                  </a:extLst>
                </a:gridCol>
              </a:tblGrid>
              <a:tr h="403225">
                <a:tc>
                  <a:txBody>
                    <a:bodyPr/>
                    <a:lstStyle/>
                    <a:p>
                      <a:pPr algn="ctr">
                        <a:buNone/>
                      </a:pPr>
                      <a:r>
                        <a:rPr lang="en-IN"/>
                        <a:t>Step</a:t>
                      </a:r>
                    </a:p>
                  </a:txBody>
                  <a:tcPr anchor="ctr"/>
                </a:tc>
                <a:tc>
                  <a:txBody>
                    <a:bodyPr/>
                    <a:lstStyle/>
                    <a:p>
                      <a:pPr algn="ctr">
                        <a:buNone/>
                      </a:pPr>
                      <a:r>
                        <a:rPr lang="en-IN"/>
                        <a:t>Stage</a:t>
                      </a:r>
                    </a:p>
                  </a:txBody>
                  <a:tcPr anchor="ctr"/>
                </a:tc>
                <a:tc>
                  <a:txBody>
                    <a:bodyPr/>
                    <a:lstStyle/>
                    <a:p>
                      <a:pPr algn="ctr">
                        <a:buNone/>
                      </a:pPr>
                      <a:r>
                        <a:rPr lang="en-IN"/>
                        <a:t>Process</a:t>
                      </a:r>
                    </a:p>
                  </a:txBody>
                  <a:tcPr anchor="ctr"/>
                </a:tc>
                <a:extLst>
                  <a:ext uri="{0D108BD9-81ED-4DB2-BD59-A6C34878D82A}">
                    <a16:rowId xmlns:a16="http://schemas.microsoft.com/office/drawing/2014/main" val="10000"/>
                  </a:ext>
                </a:extLst>
              </a:tr>
              <a:tr h="1009015">
                <a:tc>
                  <a:txBody>
                    <a:bodyPr/>
                    <a:lstStyle/>
                    <a:p>
                      <a:pPr algn="ctr">
                        <a:buNone/>
                      </a:pPr>
                      <a:r>
                        <a:rPr lang="en-IN"/>
                        <a:t>6</a:t>
                      </a:r>
                    </a:p>
                  </a:txBody>
                  <a:tcPr anchor="ctr"/>
                </a:tc>
                <a:tc>
                  <a:txBody>
                    <a:bodyPr/>
                    <a:lstStyle/>
                    <a:p>
                      <a:pPr algn="ctr"/>
                      <a:r>
                        <a:rPr lang="en-US" sz="1100"/>
                        <a:t> </a:t>
                      </a:r>
                      <a:r>
                        <a:rPr sz="1800"/>
                        <a:t>Generative AI Processing</a:t>
                      </a:r>
                    </a:p>
                  </a:txBody>
                  <a:tcPr marL="0" marR="0" marT="0" marB="0" anchor="ctr"/>
                </a:tc>
                <a:tc>
                  <a:txBody>
                    <a:bodyPr/>
                    <a:lstStyle/>
                    <a:p>
                      <a:pPr algn="ctr">
                        <a:buNone/>
                      </a:pPr>
                      <a:r>
                        <a:rPr lang="en-US" altLang="en-GB"/>
                        <a:t>Process the retrieved context using the LLM to generate personalized recommendations.</a:t>
                      </a:r>
                    </a:p>
                  </a:txBody>
                  <a:tcPr anchor="ctr"/>
                </a:tc>
                <a:extLst>
                  <a:ext uri="{0D108BD9-81ED-4DB2-BD59-A6C34878D82A}">
                    <a16:rowId xmlns:a16="http://schemas.microsoft.com/office/drawing/2014/main" val="10001"/>
                  </a:ext>
                </a:extLst>
              </a:tr>
              <a:tr h="1008380">
                <a:tc>
                  <a:txBody>
                    <a:bodyPr/>
                    <a:lstStyle/>
                    <a:p>
                      <a:pPr algn="ctr">
                        <a:buNone/>
                      </a:pPr>
                      <a:r>
                        <a:rPr lang="en-IN"/>
                        <a:t>7</a:t>
                      </a:r>
                    </a:p>
                  </a:txBody>
                  <a:tcPr anchor="ctr"/>
                </a:tc>
                <a:tc>
                  <a:txBody>
                    <a:bodyPr/>
                    <a:lstStyle/>
                    <a:p>
                      <a:pPr algn="ctr">
                        <a:buNone/>
                      </a:pPr>
                      <a:r>
                        <a:rPr lang="en-US" altLang="en-GB"/>
                        <a:t>Smart Itinerary Generation</a:t>
                      </a:r>
                    </a:p>
                  </a:txBody>
                  <a:tcPr anchor="ctr"/>
                </a:tc>
                <a:tc>
                  <a:txBody>
                    <a:bodyPr/>
                    <a:lstStyle/>
                    <a:p>
                      <a:pPr algn="ctr">
                        <a:buNone/>
                      </a:pPr>
                      <a:r>
                        <a:rPr lang="en-US" altLang="en-GB"/>
                        <a:t>Generate a day-wise itinerary with morning, afternoon and evening activities.</a:t>
                      </a:r>
                    </a:p>
                  </a:txBody>
                  <a:tcPr anchor="ctr"/>
                </a:tc>
                <a:extLst>
                  <a:ext uri="{0D108BD9-81ED-4DB2-BD59-A6C34878D82A}">
                    <a16:rowId xmlns:a16="http://schemas.microsoft.com/office/drawing/2014/main" val="10002"/>
                  </a:ext>
                </a:extLst>
              </a:tr>
              <a:tr h="1009015">
                <a:tc>
                  <a:txBody>
                    <a:bodyPr/>
                    <a:lstStyle/>
                    <a:p>
                      <a:pPr algn="ctr">
                        <a:buNone/>
                      </a:pPr>
                      <a:r>
                        <a:rPr lang="en-IN"/>
                        <a:t>8</a:t>
                      </a:r>
                    </a:p>
                  </a:txBody>
                  <a:tcPr anchor="ctr"/>
                </a:tc>
                <a:tc>
                  <a:txBody>
                    <a:bodyPr/>
                    <a:lstStyle/>
                    <a:p>
                      <a:pPr algn="ctr">
                        <a:buNone/>
                      </a:pPr>
                      <a:r>
                        <a:rPr lang="en-US" altLang="en-GB"/>
                        <a:t>Recommendation Integration</a:t>
                      </a:r>
                    </a:p>
                  </a:txBody>
                  <a:tcPr anchor="ctr"/>
                </a:tc>
                <a:tc>
                  <a:txBody>
                    <a:bodyPr/>
                    <a:lstStyle/>
                    <a:p>
                      <a:pPr algn="ctr">
                        <a:buNone/>
                      </a:pPr>
                      <a:r>
                        <a:rPr lang="en-US" altLang="en-GB"/>
                        <a:t>Add restaurants, hotels, local places, weather information and route details.</a:t>
                      </a:r>
                    </a:p>
                  </a:txBody>
                  <a:tcPr anchor="ctr"/>
                </a:tc>
                <a:extLst>
                  <a:ext uri="{0D108BD9-81ED-4DB2-BD59-A6C34878D82A}">
                    <a16:rowId xmlns:a16="http://schemas.microsoft.com/office/drawing/2014/main" val="10003"/>
                  </a:ext>
                </a:extLst>
              </a:tr>
              <a:tr h="403225">
                <a:tc>
                  <a:txBody>
                    <a:bodyPr/>
                    <a:lstStyle/>
                    <a:p>
                      <a:pPr algn="ctr">
                        <a:buNone/>
                      </a:pPr>
                      <a:r>
                        <a:rPr lang="en-IN"/>
                        <a:t>9</a:t>
                      </a:r>
                    </a:p>
                  </a:txBody>
                  <a:tcPr anchor="ctr"/>
                </a:tc>
                <a:tc>
                  <a:txBody>
                    <a:bodyPr/>
                    <a:lstStyle/>
                    <a:p>
                      <a:pPr algn="ctr">
                        <a:buNone/>
                      </a:pPr>
                      <a:r>
                        <a:rPr lang="en-US" altLang="en-GB"/>
                        <a:t>Dynamic Replanning</a:t>
                      </a:r>
                    </a:p>
                  </a:txBody>
                  <a:tcPr anchor="ctr"/>
                </a:tc>
                <a:tc>
                  <a:txBody>
                    <a:bodyPr/>
                    <a:lstStyle/>
                    <a:p>
                      <a:pPr algn="ctr">
                        <a:buNone/>
                      </a:pPr>
                      <a:r>
                        <a:rPr lang="en-US" altLang="en-GB" dirty="0"/>
                        <a:t>Dynamic Replanning</a:t>
                      </a:r>
                      <a:r>
                        <a:rPr lang="en-IN" dirty="0"/>
                        <a:t>.</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Findings and Results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8">
            <a:extLst>
              <a:ext uri="{FF2B5EF4-FFF2-40B4-BE49-F238E27FC236}">
                <a16:creationId xmlns:a16="http://schemas.microsoft.com/office/drawing/2014/main" id="{93BC1D69-C1EB-57A5-8ED2-76B1AD3DF6ED}"/>
              </a:ext>
            </a:extLst>
          </p:cNvPr>
          <p:cNvPicPr>
            <a:picLocks noChangeAspect="1"/>
          </p:cNvPicPr>
          <p:nvPr/>
        </p:nvPicPr>
        <p:blipFill>
          <a:blip r:embed="rId2"/>
          <a:stretch>
            <a:fillRect/>
          </a:stretch>
        </p:blipFill>
        <p:spPr>
          <a:xfrm>
            <a:off x="598714" y="1344156"/>
            <a:ext cx="5586115" cy="4588558"/>
          </a:xfrm>
          <a:prstGeom prst="rect">
            <a:avLst/>
          </a:prstGeom>
        </p:spPr>
      </p:pic>
      <p:pic>
        <p:nvPicPr>
          <p:cNvPr id="11" name="Picture 10">
            <a:extLst>
              <a:ext uri="{FF2B5EF4-FFF2-40B4-BE49-F238E27FC236}">
                <a16:creationId xmlns:a16="http://schemas.microsoft.com/office/drawing/2014/main" id="{37CC14EB-78C7-05B1-DDE4-C8B6256071BE}"/>
              </a:ext>
            </a:extLst>
          </p:cNvPr>
          <p:cNvPicPr>
            <a:picLocks noChangeAspect="1"/>
          </p:cNvPicPr>
          <p:nvPr/>
        </p:nvPicPr>
        <p:blipFill>
          <a:blip r:embed="rId3"/>
          <a:stretch>
            <a:fillRect/>
          </a:stretch>
        </p:blipFill>
        <p:spPr>
          <a:xfrm>
            <a:off x="6494310" y="1344156"/>
            <a:ext cx="5152351" cy="43220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Findings and Results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10" name="Picture 9">
            <a:extLst>
              <a:ext uri="{FF2B5EF4-FFF2-40B4-BE49-F238E27FC236}">
                <a16:creationId xmlns:a16="http://schemas.microsoft.com/office/drawing/2014/main" id="{59565C8C-7FAF-9060-EB52-3E9318860822}"/>
              </a:ext>
            </a:extLst>
          </p:cNvPr>
          <p:cNvPicPr>
            <a:picLocks noChangeAspect="1"/>
          </p:cNvPicPr>
          <p:nvPr/>
        </p:nvPicPr>
        <p:blipFill>
          <a:blip r:embed="rId2"/>
          <a:stretch>
            <a:fillRect/>
          </a:stretch>
        </p:blipFill>
        <p:spPr>
          <a:xfrm>
            <a:off x="932868" y="1480457"/>
            <a:ext cx="4339276" cy="4495799"/>
          </a:xfrm>
          <a:prstGeom prst="rect">
            <a:avLst/>
          </a:prstGeom>
        </p:spPr>
      </p:pic>
      <p:pic>
        <p:nvPicPr>
          <p:cNvPr id="12" name="Picture 11">
            <a:extLst>
              <a:ext uri="{FF2B5EF4-FFF2-40B4-BE49-F238E27FC236}">
                <a16:creationId xmlns:a16="http://schemas.microsoft.com/office/drawing/2014/main" id="{AB1831BD-A22A-B558-879D-F431E2262961}"/>
              </a:ext>
            </a:extLst>
          </p:cNvPr>
          <p:cNvPicPr>
            <a:picLocks noChangeAspect="1"/>
          </p:cNvPicPr>
          <p:nvPr/>
        </p:nvPicPr>
        <p:blipFill>
          <a:blip r:embed="rId3"/>
          <a:stretch>
            <a:fillRect/>
          </a:stretch>
        </p:blipFill>
        <p:spPr>
          <a:xfrm>
            <a:off x="6093893" y="1234637"/>
            <a:ext cx="3917731" cy="485502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en-US" sz="3600" b="1" dirty="0"/>
              <a:t>Findings and Results</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10" name="Picture 9">
            <a:extLst>
              <a:ext uri="{FF2B5EF4-FFF2-40B4-BE49-F238E27FC236}">
                <a16:creationId xmlns:a16="http://schemas.microsoft.com/office/drawing/2014/main" id="{32461D96-AA31-AD19-A533-F338FBE30951}"/>
              </a:ext>
            </a:extLst>
          </p:cNvPr>
          <p:cNvPicPr>
            <a:picLocks noChangeAspect="1"/>
          </p:cNvPicPr>
          <p:nvPr/>
        </p:nvPicPr>
        <p:blipFill>
          <a:blip r:embed="rId2"/>
          <a:stretch>
            <a:fillRect/>
          </a:stretch>
        </p:blipFill>
        <p:spPr>
          <a:xfrm>
            <a:off x="553482" y="1515867"/>
            <a:ext cx="4706007" cy="3611304"/>
          </a:xfrm>
          <a:prstGeom prst="rect">
            <a:avLst/>
          </a:prstGeom>
        </p:spPr>
      </p:pic>
      <p:pic>
        <p:nvPicPr>
          <p:cNvPr id="12" name="Picture 11">
            <a:extLst>
              <a:ext uri="{FF2B5EF4-FFF2-40B4-BE49-F238E27FC236}">
                <a16:creationId xmlns:a16="http://schemas.microsoft.com/office/drawing/2014/main" id="{F10AC82C-3B8C-9428-57F7-606361E50A7D}"/>
              </a:ext>
            </a:extLst>
          </p:cNvPr>
          <p:cNvPicPr>
            <a:picLocks noChangeAspect="1"/>
          </p:cNvPicPr>
          <p:nvPr/>
        </p:nvPicPr>
        <p:blipFill>
          <a:blip r:embed="rId3"/>
          <a:stretch>
            <a:fillRect/>
          </a:stretch>
        </p:blipFill>
        <p:spPr>
          <a:xfrm>
            <a:off x="5678958" y="1515867"/>
            <a:ext cx="5201376" cy="4572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294745" cy="4142740"/>
          </a:xfrm>
        </p:spPr>
        <p:txBody>
          <a:bodyPr/>
          <a:lstStyle/>
          <a:p>
            <a:pPr marL="0" indent="0" algn="just">
              <a:buNone/>
            </a:pPr>
            <a:r>
              <a:rPr lang="en-US" altLang="en-GB" sz="2400" b="0" dirty="0">
                <a:solidFill>
                  <a:schemeClr val="tx1"/>
                </a:solidFill>
                <a:latin typeface="Calibri (Body)"/>
              </a:rPr>
              <a:t>The AI Voyage Planner provides an intelligent and personalized approach to travel planning by combining Generative AI, Retrieval-Augmented Generation (RAG), and real-time travel data. The system uses user preferences such as destination, travel dates, budget, interests, number of travelers, and food preferences to generate customized day-wise itineraries. By integrating Geoapify for places, restaurants, hotels and route information and OpenWeather for weather details, the system provides practical and relevant travel recommendations. The smart itinerary module organizes activities into morning, afternoon, and evening schedules, while the dynamic replanning feature allows the itinerary to be updated according to changing travel conditions and user requirements. Overall, the proposed system reduces the complexity of manual travel planning and provides a flexible, personalized, and intelligent travel experience.</a:t>
            </a:r>
          </a:p>
          <a:p>
            <a:pPr marL="0" indent="0" algn="just">
              <a:buNone/>
            </a:pPr>
            <a:endParaRPr lang="en-US" altLang="en-GB" sz="2400" b="0" dirty="0">
              <a:solidFill>
                <a:schemeClr val="tx1"/>
              </a:solidFill>
              <a:latin typeface="Calibri (Body)"/>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a:t>Conclusion</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algn="just"/>
            <a:r>
              <a:rPr lang="en-IN" sz="2400" b="0" dirty="0">
                <a:solidFill>
                  <a:schemeClr val="tx1"/>
                </a:solidFill>
                <a:latin typeface="Calibri" panose="020F0502020204030204" pitchFamily="34" charset="0"/>
              </a:rPr>
              <a:t>I sincerely thank LTM and L&amp;T </a:t>
            </a:r>
            <a:r>
              <a:rPr lang="en-IN" sz="2400" b="0" dirty="0" err="1">
                <a:solidFill>
                  <a:schemeClr val="tx1"/>
                </a:solidFill>
                <a:latin typeface="Calibri" panose="020F0502020204030204" pitchFamily="34" charset="0"/>
              </a:rPr>
              <a:t>EduTech</a:t>
            </a:r>
            <a:r>
              <a:rPr lang="en-IN" sz="2400" b="0" dirty="0">
                <a:solidFill>
                  <a:schemeClr val="tx1"/>
                </a:solidFill>
                <a:latin typeface="Calibri" panose="020F0502020204030204" pitchFamily="34" charset="0"/>
              </a:rPr>
              <a:t> for providing the infrastructure, laptop, training room, ID card, and a valuable 2-month opportunity to enhance my technical skills through practical project development.</a:t>
            </a:r>
          </a:p>
          <a:p>
            <a:pPr algn="just"/>
            <a:r>
              <a:rPr lang="en-IN" sz="2400" b="0" dirty="0">
                <a:solidFill>
                  <a:schemeClr val="tx1"/>
                </a:solidFill>
                <a:latin typeface="Calibri" panose="020F0502020204030204" pitchFamily="34" charset="0"/>
              </a:rPr>
              <a:t> I express my special gratitude to Dr. Ganesh for his continuous guidance, valuable suggestions, and support in improving my project. I also thank the Classroom Managers for their daily monitoring, coordination, and assistance in resolving issues. Finally, my special thanks to Mr. Jayakanthan, Manager – Delivery Operations, L&amp;T </a:t>
            </a:r>
            <a:r>
              <a:rPr lang="en-IN" sz="2400" b="0" dirty="0" err="1">
                <a:solidFill>
                  <a:schemeClr val="tx1"/>
                </a:solidFill>
                <a:latin typeface="Calibri" panose="020F0502020204030204" pitchFamily="34" charset="0"/>
              </a:rPr>
              <a:t>EduTech</a:t>
            </a:r>
            <a:r>
              <a:rPr lang="en-IN" sz="2400" b="0" dirty="0">
                <a:solidFill>
                  <a:schemeClr val="tx1"/>
                </a:solidFill>
                <a:latin typeface="Calibri" panose="020F0502020204030204" pitchFamily="34" charset="0"/>
              </a:rPr>
              <a:t>, for his encouragement, support, and for providing this valuable opportunity.</a:t>
            </a:r>
          </a:p>
          <a:p>
            <a:pPr marL="0" indent="0" algn="just">
              <a:buNone/>
            </a:pPr>
            <a:endParaRPr lang="en-US" sz="2000" b="0" dirty="0">
              <a:solidFill>
                <a:schemeClr val="tx1"/>
              </a:solidFill>
            </a:endParaRPr>
          </a:p>
          <a:p>
            <a:pPr marL="0" indent="0">
              <a:lnSpc>
                <a:spcPct val="150000"/>
              </a:lnSpc>
              <a:buNone/>
            </a:pPr>
            <a:endParaRPr lang="en-US" sz="2400" b="0" dirty="0">
              <a:solidFill>
                <a:srgbClr val="5583D1"/>
              </a:solidFill>
            </a:endParaRP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err="1"/>
              <a:t>Acknowledgement</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568430" cy="4142740"/>
          </a:xfrm>
        </p:spPr>
        <p:txBody>
          <a:bodyPr/>
          <a:lstStyle/>
          <a:p>
            <a:pPr algn="just"/>
            <a:r>
              <a:rPr lang="en-US" altLang="en-GB" sz="2400" b="0" dirty="0">
                <a:solidFill>
                  <a:schemeClr val="tx1"/>
                </a:solidFill>
                <a:latin typeface="Calibri (Body)"/>
              </a:rPr>
              <a:t>[1] H. Zheng et al., “Recommender Systems in the Era of Large Language Models (LLMs),” IEEE Transactions on Knowledge and Data Engineering, vol. 36, no. 11, pp. 6889–6907, Nov. 2024, doi: 10.1109/TKDE.2024.3392335.</a:t>
            </a:r>
          </a:p>
          <a:p>
            <a:pPr algn="just"/>
            <a:r>
              <a:rPr lang="en-US" altLang="en-GB" sz="2400" b="0" dirty="0">
                <a:solidFill>
                  <a:schemeClr val="tx1"/>
                </a:solidFill>
                <a:latin typeface="Calibri (Body)"/>
              </a:rPr>
              <a:t>[2] “Travel Itinerary Generation using AI and Recommendation Systems,” in Proc. IEEE Conf., 2025.</a:t>
            </a:r>
          </a:p>
          <a:p>
            <a:pPr algn="just"/>
            <a:r>
              <a:rPr lang="en-US" altLang="en-GB" sz="2400" b="0" dirty="0">
                <a:solidFill>
                  <a:schemeClr val="tx1"/>
                </a:solidFill>
                <a:latin typeface="Calibri (Body)"/>
              </a:rPr>
              <a:t>[3] “Smart Trip Planner for Personalized Tourism Itineraries,” in Proc. 5th Int. Conf. on Ubiquitous Computing and Intelligent Information Systems (ICUIS), 2025, doi: 10.1109/ICUIS67429.2025.11380545.</a:t>
            </a:r>
          </a:p>
          <a:p>
            <a:pPr algn="just"/>
            <a:r>
              <a:rPr lang="en-US" altLang="en-GB" sz="2400" b="0" dirty="0">
                <a:solidFill>
                  <a:schemeClr val="tx1"/>
                </a:solidFill>
                <a:latin typeface="Calibri (Body)"/>
              </a:rPr>
              <a:t>[4] “Genetic Algorithm Based Personalized Travel Recommendation System,” in Proc. 2nd Int. Conf. on Intelligent Data Communication Technologies and Internet of Things (IDCIoT), 2024, doi: 10.1109/IDCIoT59759.2024.10467470.</a:t>
            </a:r>
          </a:p>
          <a:p>
            <a:pPr algn="just"/>
            <a:r>
              <a:rPr lang="en-US" altLang="en-GB" sz="2400" b="0" dirty="0">
                <a:solidFill>
                  <a:schemeClr val="tx1"/>
                </a:solidFill>
                <a:latin typeface="Calibri (Body)"/>
              </a:rPr>
              <a:t>[5] “Evaluation of the Effect of Tourism Recommendation System based on AI,” in Proc. 3rd Int. Conf. on Artificial Intelligence and Computer Information Technology (AICIT), 2024, doi: 10.1109/AICIT62434.2024.10730422.</a:t>
            </a:r>
          </a:p>
        </p:txBody>
      </p:sp>
      <p:sp>
        <p:nvSpPr>
          <p:cNvPr id="3" name="TextBox 2"/>
          <p:cNvSpPr txBox="1"/>
          <p:nvPr/>
        </p:nvSpPr>
        <p:spPr>
          <a:xfrm>
            <a:off x="255996" y="502545"/>
            <a:ext cx="10624338" cy="646331"/>
          </a:xfrm>
          <a:prstGeom prst="rect">
            <a:avLst/>
          </a:prstGeom>
          <a:noFill/>
        </p:spPr>
        <p:txBody>
          <a:bodyPr wrap="square" rtlCol="0">
            <a:spAutoFit/>
          </a:bodyPr>
          <a:lstStyle/>
          <a:p>
            <a:pPr lvl="0">
              <a:defRPr/>
            </a:pPr>
            <a:r>
              <a:rPr lang="fr-FR" sz="3600" b="1" dirty="0"/>
              <a:t>Reference</a:t>
            </a:r>
            <a:endParaRPr kumimoji="0" lang="en-US" sz="3600" b="1" i="0" u="none" strike="noStrike" kern="1200" cap="none" spc="0" normalizeH="0" baseline="0" noProof="0" dirty="0">
              <a:ln>
                <a:noFill/>
              </a:ln>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6*283"/>
  <p:tag name="TABLE_ENDDRAG_RECT" val="20*108*866*283"/>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66*301"/>
  <p:tag name="TABLE_ENDDRAG_RECT" val="20*115*866*30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1116</Words>
  <Application>Microsoft Office PowerPoint</Application>
  <PresentationFormat>Widescreen</PresentationFormat>
  <Paragraphs>127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Syed Ali Fathima S</cp:lastModifiedBy>
  <cp:revision>45</cp:revision>
  <dcterms:created xsi:type="dcterms:W3CDTF">2024-05-13T10:33:00Z</dcterms:created>
  <dcterms:modified xsi:type="dcterms:W3CDTF">2026-10-07T19:36:43Z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y fmtid="{D5CDD505-2E9C-101B-9397-08002B2CF9AE}" pid="12" name="ICV">
    <vt:lpwstr>CFFAA4ACC6D04C89B19589306F496AD3_13</vt:lpwstr>
  </property>
  <property fmtid="{D5CDD505-2E9C-101B-9397-08002B2CF9AE}" pid="13" name="KSOProductBuildVer">
    <vt:lpwstr>2057-12.2.0.23206</vt:lpwstr>
  </property>
</Properties>
</file>