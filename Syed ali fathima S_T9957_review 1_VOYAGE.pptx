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8" r:id="rId9"/>
    <p:sldId id="2147470491" r:id="rId10"/>
    <p:sldId id="21474704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Project Title</a:t>
            </a: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algn="ctr" fontAlgn="t">
              <a:lnSpc>
                <a:spcPct val="100000"/>
              </a:lnSpc>
              <a:buNone/>
            </a:pPr>
            <a:r>
              <a:rPr lang="en-IN" sz="3600" dirty="0">
                <a:solidFill>
                  <a:schemeClr val="bg1"/>
                </a:solidFill>
              </a:rPr>
              <a:t>AI Voyage Planner: Context-Aware Travel Recommendations and Adaptive Scheduling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 Syed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ali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Fathima</a:t>
            </a:r>
            <a:b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8"/>
            <a:ext cx="11805375" cy="5084235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Travel planning is often fragmented, requiring users to search multiple websites for destinations, hotels, transportation, and travel schedules.</a:t>
            </a:r>
          </a:p>
          <a:p>
            <a:pPr marL="342900" lvl="0" indent="-342900" fontAlgn="t"/>
            <a:r>
              <a:rPr lang="en-IN" b="0" dirty="0"/>
              <a:t>Most travel recommendation systems provide generic or popularity-based suggestions rather than personalized recommendations.</a:t>
            </a:r>
          </a:p>
          <a:p>
            <a:pPr marL="342900" lvl="0" indent="-342900" fontAlgn="t"/>
            <a:r>
              <a:rPr lang="en-IN" b="0" dirty="0"/>
              <a:t>Existing tourism platforms rarely consider a </a:t>
            </a:r>
            <a:r>
              <a:rPr lang="en-IN" b="0" dirty="0" err="1"/>
              <a:t>traveler's</a:t>
            </a:r>
            <a:r>
              <a:rPr lang="en-IN" b="0" dirty="0"/>
              <a:t> budget, available time, interests, and travel preferences simultaneously.</a:t>
            </a:r>
          </a:p>
          <a:p>
            <a:pPr marL="342900" lvl="0" indent="-342900" fontAlgn="t"/>
            <a:r>
              <a:rPr lang="en-IN" b="0" dirty="0"/>
              <a:t>Travel plans are typically static and require manual modifications when weather conditions, transportation schedules, or attraction availability change.</a:t>
            </a:r>
          </a:p>
          <a:p>
            <a:pPr marL="342900" lvl="0" indent="-342900" fontAlgn="t"/>
            <a:r>
              <a:rPr lang="en-IN" b="0" dirty="0"/>
              <a:t>AI Voyage Planner is proposed as a Generative AI and RAG-based intelligent travel assistant that provides personalized recommendations and dynamically adapts itineraries to changing travel conditions.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2153719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To develop an AI-powered travel planning assistant for personalized tourism recommendations.</a:t>
            </a:r>
          </a:p>
          <a:p>
            <a:pPr marL="342900" lvl="0" indent="-342900" fontAlgn="t"/>
            <a:r>
              <a:rPr lang="en-IN" b="0" dirty="0"/>
              <a:t>To understand user preferences including budget, travel duration, destination, and interests.</a:t>
            </a:r>
          </a:p>
          <a:p>
            <a:pPr marL="342900" lvl="0" indent="-342900" fontAlgn="t"/>
            <a:r>
              <a:rPr lang="en-IN" b="0" dirty="0"/>
              <a:t>To retrieve relevant travel information using Retrieval-Augmented Generation (RAG). generate intelligent and personalized travel itineraries using Large Language Models.</a:t>
            </a:r>
          </a:p>
          <a:p>
            <a:pPr marL="342900" lvl="0" indent="-342900" fontAlgn="t"/>
            <a:r>
              <a:rPr lang="en-IN" b="0" dirty="0"/>
              <a:t>To dynamically update travel schedules based on weather changes, transportation delays, and attraction availability.</a:t>
            </a:r>
          </a:p>
          <a:p>
            <a:pPr marL="342900" lvl="0" indent="-342900" fontAlgn="t"/>
            <a:r>
              <a:rPr lang="en-IN" b="0" dirty="0"/>
              <a:t>To provide an interactive dashboard for seamless travel planning and management.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94490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Provide personalized travel recommendations based on user interests, budget, and destination.</a:t>
            </a:r>
          </a:p>
          <a:p>
            <a:pPr marL="342900" lvl="0" indent="-342900" fontAlgn="t"/>
            <a:r>
              <a:rPr lang="en-IN" b="0" dirty="0"/>
              <a:t>Generate optimized day-wise itineraries with efficient route and time planning.</a:t>
            </a:r>
          </a:p>
          <a:p>
            <a:pPr marL="342900" lvl="0" indent="-342900" fontAlgn="t"/>
            <a:r>
              <a:rPr lang="en-IN" b="0" dirty="0"/>
              <a:t>Retrieve relevant tourism information using RAG from a travel knowledge base.</a:t>
            </a:r>
          </a:p>
          <a:p>
            <a:pPr marL="342900" lvl="0" indent="-342900" fontAlgn="t"/>
            <a:r>
              <a:rPr lang="en-IN" b="0" dirty="0"/>
              <a:t>Dynamically adapt travel schedules based on weather updates, attraction closures, and travel disruptions.</a:t>
            </a:r>
          </a:p>
          <a:p>
            <a:pPr marL="342900" lvl="0" indent="-342900" fontAlgn="t"/>
            <a:r>
              <a:rPr lang="en-IN" b="0" dirty="0"/>
              <a:t>Support </a:t>
            </a:r>
            <a:r>
              <a:rPr lang="en-IN" b="0" dirty="0" err="1"/>
              <a:t>travelers</a:t>
            </a:r>
            <a:r>
              <a:rPr lang="en-IN" b="0" dirty="0"/>
              <a:t> with intelligent recommendations and decision-making for an enhanced travel experience.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21274" y="4596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3C88F0-26B9-D3F6-543F-27284CE53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647627"/>
              </p:ext>
            </p:extLst>
          </p:nvPr>
        </p:nvGraphicFramePr>
        <p:xfrm>
          <a:off x="240191" y="948804"/>
          <a:ext cx="11707404" cy="566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038">
                  <a:extLst>
                    <a:ext uri="{9D8B030D-6E8A-4147-A177-3AD203B41FA5}">
                      <a16:colId xmlns:a16="http://schemas.microsoft.com/office/drawing/2014/main" val="1025914725"/>
                    </a:ext>
                  </a:extLst>
                </a:gridCol>
                <a:gridCol w="2493305">
                  <a:extLst>
                    <a:ext uri="{9D8B030D-6E8A-4147-A177-3AD203B41FA5}">
                      <a16:colId xmlns:a16="http://schemas.microsoft.com/office/drawing/2014/main" val="3868432162"/>
                    </a:ext>
                  </a:extLst>
                </a:gridCol>
                <a:gridCol w="2219980">
                  <a:extLst>
                    <a:ext uri="{9D8B030D-6E8A-4147-A177-3AD203B41FA5}">
                      <a16:colId xmlns:a16="http://schemas.microsoft.com/office/drawing/2014/main" val="3512648863"/>
                    </a:ext>
                  </a:extLst>
                </a:gridCol>
                <a:gridCol w="1241677">
                  <a:extLst>
                    <a:ext uri="{9D8B030D-6E8A-4147-A177-3AD203B41FA5}">
                      <a16:colId xmlns:a16="http://schemas.microsoft.com/office/drawing/2014/main" val="2899082249"/>
                    </a:ext>
                  </a:extLst>
                </a:gridCol>
                <a:gridCol w="1883229">
                  <a:extLst>
                    <a:ext uri="{9D8B030D-6E8A-4147-A177-3AD203B41FA5}">
                      <a16:colId xmlns:a16="http://schemas.microsoft.com/office/drawing/2014/main" val="2158979678"/>
                    </a:ext>
                  </a:extLst>
                </a:gridCol>
                <a:gridCol w="2585175">
                  <a:extLst>
                    <a:ext uri="{9D8B030D-6E8A-4147-A177-3AD203B41FA5}">
                      <a16:colId xmlns:a16="http://schemas.microsoft.com/office/drawing/2014/main" val="2739372099"/>
                    </a:ext>
                  </a:extLst>
                </a:gridCol>
              </a:tblGrid>
              <a:tr h="847997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PAPER 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AUTHOR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CONFERENCE/JOURNAL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REFERENCE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22680"/>
                  </a:ext>
                </a:extLst>
              </a:tr>
              <a:tr h="2204028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pPr algn="ctr"/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endParaRPr lang="en-IN" sz="1800" b="0" i="0" dirty="0">
                        <a:effectLst/>
                        <a:latin typeface="+mn-lt"/>
                      </a:endParaRPr>
                    </a:p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A Survey of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Wayne Xin Zhao, Kun Zhou, Junyi Li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 err="1">
                          <a:effectLst/>
                          <a:latin typeface="+mn-lt"/>
                        </a:rPr>
                        <a:t>arXiv</a:t>
                      </a:r>
                      <a:r>
                        <a:rPr lang="en-IN" sz="1800" b="0" i="0" dirty="0">
                          <a:effectLst/>
                          <a:latin typeface="+mn-lt"/>
                        </a:rPr>
                        <a:t> / Springer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Reviews LLM capabilities in natural language understanding and content generation, supporting AI-generated travel itineraries and recommendations.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473082"/>
                  </a:ext>
                </a:extLst>
              </a:tr>
              <a:tr h="2204028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2.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Recommender Systems in Tourism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Francesco Ricci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pPr algn="ctr"/>
                      <a:r>
                        <a:rPr lang="en-GB" dirty="0"/>
                        <a:t>2020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Handbook of e-Tourism (Springer)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800" b="0" i="0" dirty="0">
                          <a:effectLst/>
                          <a:latin typeface="+mn-lt"/>
                        </a:rPr>
                        <a:t>Discusses tourism recommendation techniques, itinerary generation, and context-aware travel planning relevant to intelligent tourism systems.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24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04633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Traditional travel systems mainly rely on predefined recommendations and popularity rankings.</a:t>
            </a:r>
          </a:p>
          <a:p>
            <a:pPr marL="342900" lvl="0" indent="-342900" fontAlgn="t"/>
            <a:r>
              <a:rPr lang="en-IN" b="0" dirty="0"/>
              <a:t>Recommendation systems improve personalization but often lack real-time adaptability.</a:t>
            </a:r>
          </a:p>
          <a:p>
            <a:pPr marL="342900" lvl="0" indent="-342900" fontAlgn="t"/>
            <a:r>
              <a:rPr lang="en-IN" b="0" dirty="0"/>
              <a:t>RAG improves response accuracy by grounding LLM outputs with retrieved information.</a:t>
            </a:r>
          </a:p>
          <a:p>
            <a:pPr marL="342900" lvl="0" indent="-342900" fontAlgn="t"/>
            <a:r>
              <a:rPr lang="en-IN" b="0" dirty="0"/>
              <a:t>Generative AI enables natural-language itinerary generation.</a:t>
            </a:r>
          </a:p>
          <a:p>
            <a:pPr marL="342900" lvl="0" indent="-342900" fontAlgn="t"/>
            <a:r>
              <a:rPr lang="en-IN" b="0" dirty="0"/>
              <a:t>Context-aware systems significantly enhance user satisfaction by considering preferences and environmental factors.</a:t>
            </a:r>
          </a:p>
          <a:p>
            <a:pPr lvl="0"/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21274" y="4596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67918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RAG architecture provides accurate travel recommendations using real tourism data.</a:t>
            </a:r>
          </a:p>
          <a:p>
            <a:pPr marL="342900" lvl="0" indent="-342900" fontAlgn="t"/>
            <a:r>
              <a:rPr lang="en-IN" b="0" dirty="0" err="1"/>
              <a:t>ChromaDB</a:t>
            </a:r>
            <a:r>
              <a:rPr lang="en-IN" b="0" dirty="0"/>
              <a:t> enables efficient retrieval of tourism information.</a:t>
            </a:r>
          </a:p>
          <a:p>
            <a:pPr marL="342900" lvl="0" indent="-342900" fontAlgn="t"/>
            <a:r>
              <a:rPr lang="en-IN" b="0" dirty="0" err="1"/>
              <a:t>LangChain</a:t>
            </a:r>
            <a:r>
              <a:rPr lang="en-IN" b="0" dirty="0"/>
              <a:t> orchestrates retrieval and generation workflows.</a:t>
            </a:r>
          </a:p>
          <a:p>
            <a:pPr marL="342900" lvl="0" indent="-342900" fontAlgn="t"/>
            <a:r>
              <a:rPr lang="en-IN" b="0" dirty="0"/>
              <a:t>Llama 3 running through </a:t>
            </a:r>
            <a:r>
              <a:rPr lang="en-IN" b="0" dirty="0" err="1"/>
              <a:t>Ollama</a:t>
            </a:r>
            <a:r>
              <a:rPr lang="en-IN" b="0" dirty="0"/>
              <a:t> provides local AI inference capabilities.</a:t>
            </a:r>
          </a:p>
          <a:p>
            <a:pPr marL="342900" lvl="0" indent="-342900" fontAlgn="t"/>
            <a:r>
              <a:rPr lang="en-IN" b="0" dirty="0"/>
              <a:t>Adaptive scheduling enables automatic itinerary updates in response to disruptions.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453BD-DA2F-2306-34C7-D768A6B905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FLOWCHART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66D46-669A-E6BE-A104-109FB2A3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130"/>
            <a:ext cx="12192000" cy="60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8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00575" cy="4142989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Data Ingestion &amp; Processing: </a:t>
            </a:r>
            <a:r>
              <a:rPr lang="en-IN" b="0" dirty="0"/>
              <a:t>Collect attraction, hotel, and transportation </a:t>
            </a:r>
            <a:r>
              <a:rPr lang="en-IN" b="0" dirty="0" err="1"/>
              <a:t>datasets.Clean</a:t>
            </a:r>
            <a:r>
              <a:rPr lang="en-IN" b="0" dirty="0"/>
              <a:t> and structure tourism information.</a:t>
            </a:r>
          </a:p>
          <a:p>
            <a:pPr fontAlgn="t">
              <a:buNone/>
            </a:pPr>
            <a:r>
              <a:rPr lang="en-IN" dirty="0"/>
              <a:t>Embedding Generation: </a:t>
            </a:r>
            <a:r>
              <a:rPr lang="en-IN" b="0" dirty="0"/>
              <a:t>Convert tourism data into semantic </a:t>
            </a:r>
            <a:r>
              <a:rPr lang="en-IN" b="0" dirty="0" err="1"/>
              <a:t>embeddings.Store</a:t>
            </a:r>
            <a:r>
              <a:rPr lang="en-IN" b="0" dirty="0"/>
              <a:t> embeddings in </a:t>
            </a:r>
            <a:r>
              <a:rPr lang="en-IN" b="0" dirty="0" err="1"/>
              <a:t>ChromaDB</a:t>
            </a:r>
            <a:r>
              <a:rPr lang="en-IN" b="0" dirty="0"/>
              <a:t>.</a:t>
            </a:r>
          </a:p>
          <a:p>
            <a:pPr fontAlgn="t">
              <a:buNone/>
            </a:pPr>
            <a:r>
              <a:rPr lang="en-IN" dirty="0"/>
              <a:t>Vector Retrieval: </a:t>
            </a:r>
            <a:r>
              <a:rPr lang="en-IN" b="0" dirty="0"/>
              <a:t>Retrieve the most relevant travel information based on user queries.</a:t>
            </a:r>
          </a:p>
          <a:p>
            <a:pPr fontAlgn="t">
              <a:buNone/>
            </a:pPr>
            <a:r>
              <a:rPr lang="en-IN" dirty="0"/>
              <a:t>RAG-Based Recommendation Engine: </a:t>
            </a:r>
            <a:r>
              <a:rPr lang="en-IN" b="0" dirty="0"/>
              <a:t>Combine retrieval results with user </a:t>
            </a:r>
            <a:r>
              <a:rPr lang="en-IN" b="0" dirty="0" err="1"/>
              <a:t>preferences.Generate</a:t>
            </a:r>
            <a:r>
              <a:rPr lang="en-IN" b="0" dirty="0"/>
              <a:t> context-aware recommendations.</a:t>
            </a:r>
          </a:p>
          <a:p>
            <a:pPr fontAlgn="t">
              <a:buNone/>
            </a:pPr>
            <a:r>
              <a:rPr lang="en-IN" dirty="0"/>
              <a:t>Natural Language Interaction: </a:t>
            </a:r>
            <a:r>
              <a:rPr lang="en-IN" b="0" dirty="0"/>
              <a:t>Allow users to interact through a conversational interface.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cover: core intelligence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48175" cy="444565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Personalized Travel Recommendation: </a:t>
            </a:r>
            <a:r>
              <a:rPr lang="en-IN" b="0" dirty="0"/>
              <a:t>Recommend attractions aligned with user interests.</a:t>
            </a:r>
          </a:p>
          <a:p>
            <a:pPr fontAlgn="t">
              <a:buNone/>
            </a:pPr>
            <a:r>
              <a:rPr lang="en-IN" dirty="0"/>
              <a:t>Itinerary Generator: </a:t>
            </a:r>
            <a:r>
              <a:rPr lang="en-IN" b="0" dirty="0"/>
              <a:t>Create optimized day-wise travel schedules.</a:t>
            </a:r>
          </a:p>
          <a:p>
            <a:pPr fontAlgn="t">
              <a:buNone/>
            </a:pPr>
            <a:r>
              <a:rPr lang="en-IN" dirty="0"/>
              <a:t>Budget Planner: </a:t>
            </a:r>
            <a:r>
              <a:rPr lang="en-IN" b="0" dirty="0"/>
              <a:t>Recommend suitable activities within budget limits.</a:t>
            </a:r>
          </a:p>
          <a:p>
            <a:pPr fontAlgn="t">
              <a:buNone/>
            </a:pPr>
            <a:r>
              <a:rPr lang="en-IN" dirty="0"/>
              <a:t>Dynamic Scheduling </a:t>
            </a:r>
            <a:r>
              <a:rPr lang="en-IN" dirty="0" err="1"/>
              <a:t>Agent:</a:t>
            </a:r>
            <a:r>
              <a:rPr lang="en-IN" b="0" dirty="0" err="1"/>
              <a:t>Monitor</a:t>
            </a:r>
            <a:r>
              <a:rPr lang="en-IN" b="0" dirty="0"/>
              <a:t> travel </a:t>
            </a:r>
            <a:r>
              <a:rPr lang="en-IN" b="0" dirty="0" err="1"/>
              <a:t>conditions.Update</a:t>
            </a:r>
            <a:r>
              <a:rPr lang="en-IN" b="0" dirty="0"/>
              <a:t> travel plans automatically.</a:t>
            </a:r>
          </a:p>
          <a:p>
            <a:pPr fontAlgn="t">
              <a:buNone/>
            </a:pPr>
            <a:r>
              <a:rPr lang="en-IN" dirty="0"/>
              <a:t>Decision Support </a:t>
            </a:r>
            <a:r>
              <a:rPr lang="en-IN" dirty="0" err="1"/>
              <a:t>System</a:t>
            </a:r>
            <a:r>
              <a:rPr lang="en-IN" b="0" dirty="0" err="1"/>
              <a:t>Offer</a:t>
            </a:r>
            <a:r>
              <a:rPr lang="en-IN" b="0" dirty="0"/>
              <a:t> alternative attractions and travel options.</a:t>
            </a:r>
          </a:p>
          <a:p>
            <a:pPr marL="342900" lvl="0" indent="-342900" fontAlgn="t"/>
            <a:r>
              <a:rPr lang="en-IN" b="0" dirty="0"/>
              <a:t>Improve travel efficiency and convenience.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4659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lang="en-IN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Tourism Intelligence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680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Syed Ali Fathima S</cp:lastModifiedBy>
  <cp:revision>33</cp:revision>
  <dcterms:created xsi:type="dcterms:W3CDTF">2024-05-13T10:33:11Z</dcterms:created>
  <dcterms:modified xsi:type="dcterms:W3CDTF">2026-10-07T20:04:58Z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