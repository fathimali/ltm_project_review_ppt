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6764057" r:id="rId2"/>
    <p:sldId id="16764060" r:id="rId3"/>
    <p:sldId id="16764061" r:id="rId4"/>
    <p:sldId id="16764055" r:id="rId5"/>
    <p:sldId id="16764062" r:id="rId6"/>
    <p:sldId id="16764069" r:id="rId7"/>
    <p:sldId id="16764066" r:id="rId8"/>
    <p:sldId id="16764076" r:id="rId9"/>
    <p:sldId id="16764065" r:id="rId10"/>
    <p:sldId id="16764075" r:id="rId11"/>
    <p:sldId id="16764074" r:id="rId12"/>
    <p:sldId id="16764077" r:id="rId13"/>
    <p:sldId id="16764067" r:id="rId14"/>
    <p:sldId id="16764070" r:id="rId15"/>
    <p:sldId id="167640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51C56A-C02E-44B4-94E5-F3BFCB26EEEE}">
          <p14:sldIdLst>
            <p14:sldId id="16764057"/>
            <p14:sldId id="16764060"/>
            <p14:sldId id="16764061"/>
            <p14:sldId id="16764055"/>
            <p14:sldId id="16764062"/>
            <p14:sldId id="16764069"/>
            <p14:sldId id="16764066"/>
            <p14:sldId id="16764076"/>
            <p14:sldId id="16764065"/>
            <p14:sldId id="16764075"/>
            <p14:sldId id="16764074"/>
            <p14:sldId id="16764077"/>
            <p14:sldId id="16764067"/>
            <p14:sldId id="16764070"/>
            <p14:sldId id="167640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2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8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3" Type="http://schemas.openxmlformats.org/officeDocument/2006/relationships/tags" Target="../tags/tag35.xml"/><Relationship Id="rId21" Type="http://schemas.openxmlformats.org/officeDocument/2006/relationships/tags" Target="../tags/tag53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slideLayout" Target="../slideLayouts/slideLayout12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tags" Target="../tags/tag52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tags" Target="../tags/tag56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tags" Target="../tags/tag55.xml"/><Relationship Id="rId10" Type="http://schemas.openxmlformats.org/officeDocument/2006/relationships/tags" Target="../tags/tag42.xml"/><Relationship Id="rId19" Type="http://schemas.openxmlformats.org/officeDocument/2006/relationships/tags" Target="../tags/tag51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tags" Target="../tags/tag5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/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236" y="1659822"/>
            <a:ext cx="11428184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III</a:t>
            </a:r>
          </a:p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lang="en-US" sz="3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                                </a:t>
            </a:r>
            <a:r>
              <a:rPr sz="3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PROCURE BOT</a:t>
            </a:r>
          </a:p>
          <a:p>
            <a:pPr>
              <a:defRPr sz="2400">
                <a:solidFill>
                  <a:srgbClr val="BEEBEB"/>
                </a:solidFill>
                <a:latin typeface="Aptos"/>
              </a:defRPr>
            </a:pPr>
            <a:r>
              <a:rPr lang="en-US" sz="3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     </a:t>
            </a:r>
            <a:r>
              <a:rPr sz="3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Intelligent Procurement &amp; Vendor Q&amp;A Assistant</a:t>
            </a:r>
          </a:p>
          <a:p>
            <a:pPr lvl="0" algn="ctr">
              <a:defRPr/>
            </a:pPr>
            <a:endParaRPr lang="en-US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Team member</a:t>
            </a:r>
            <a:b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Syed Ali Fathima</a:t>
            </a:r>
            <a:b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T9957</a:t>
            </a: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459845" cy="4937760"/>
          </a:xfrm>
        </p:spPr>
        <p:txBody>
          <a:bodyPr/>
          <a:lstStyle/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Procurement teams work with heterogeneous information such as purchase orders, vendor contracts, invoices, compliance rules and supplier records.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Manual searching across documents and tables makes procurement Q&amp;A, compliance checks and supplier analysis time-consuming.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 Bot combines Retrieval-Augmented Generation (RAG), metadata-aware retrieval and a local LLM to provide grounded procurement assistance.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The platform uses a React frontend and FastAPI backend with vector retrieval through FAISS/Qdrant and Ollama-based language models.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The system is designed to support procurement decisions while keeping responses connected to the organization's available procurement knowledge.</a:t>
            </a: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064875" cy="4612005"/>
          </a:xfrm>
        </p:spPr>
        <p:txBody>
          <a:bodyPr/>
          <a:lstStyle/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Develop an AI-powered procurement assistant for natural-language procurement queries.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Build a RAG pipeline for retrieving relevant information from structured and unstructured procurement data.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Provide procurement Q&amp;A for purchase orders, vendors, contracts, invoices and policies.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Implement a compliance checker that compares procurement information against defined rules and policies.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Support supplier analysis and generate RFQ-related drafts to accelerate sourcing workflows.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Provide an interactive enterprise-style web interface using React with a FastAPI service layer.Use a local LLM through Ollama to support domain-focused, data-grounded responses.</a:t>
            </a: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7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85800" y="128016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5"/>
          <p:cNvSpPr/>
          <p:nvPr>
            <p:custDataLst>
              <p:tags r:id="rId2"/>
            </p:custDataLst>
          </p:nvPr>
        </p:nvSpPr>
        <p:spPr>
          <a:xfrm>
            <a:off x="685800" y="1280160"/>
            <a:ext cx="64008" cy="100584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6"/>
          <p:cNvSpPr txBox="1"/>
          <p:nvPr>
            <p:custDataLst>
              <p:tags r:id="rId3"/>
            </p:custDataLst>
          </p:nvPr>
        </p:nvSpPr>
        <p:spPr>
          <a:xfrm>
            <a:off x="850392" y="13898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1. User &amp; Dashboard</a:t>
            </a:r>
          </a:p>
        </p:txBody>
      </p:sp>
      <p:sp>
        <p:nvSpPr>
          <p:cNvPr id="13" name="TextBox 7"/>
          <p:cNvSpPr txBox="1"/>
          <p:nvPr>
            <p:custDataLst>
              <p:tags r:id="rId4"/>
            </p:custDataLst>
          </p:nvPr>
        </p:nvSpPr>
        <p:spPr>
          <a:xfrm>
            <a:off x="850392" y="178308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Procurement workspace, navigation and natural-language interaction.</a:t>
            </a:r>
          </a:p>
        </p:txBody>
      </p:sp>
      <p:sp>
        <p:nvSpPr>
          <p:cNvPr id="14" name="Rounded Rectangle 13"/>
          <p:cNvSpPr/>
          <p:nvPr>
            <p:custDataLst>
              <p:tags r:id="rId5"/>
            </p:custDataLst>
          </p:nvPr>
        </p:nvSpPr>
        <p:spPr>
          <a:xfrm>
            <a:off x="6309360" y="128016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9"/>
          <p:cNvSpPr/>
          <p:nvPr>
            <p:custDataLst>
              <p:tags r:id="rId6"/>
            </p:custDataLst>
          </p:nvPr>
        </p:nvSpPr>
        <p:spPr>
          <a:xfrm>
            <a:off x="6309360" y="1280160"/>
            <a:ext cx="64008" cy="100584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0"/>
          <p:cNvSpPr txBox="1"/>
          <p:nvPr>
            <p:custDataLst>
              <p:tags r:id="rId7"/>
            </p:custDataLst>
          </p:nvPr>
        </p:nvSpPr>
        <p:spPr>
          <a:xfrm>
            <a:off x="6473952" y="13898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2. Document / Data Ingestion</a:t>
            </a:r>
          </a:p>
        </p:txBody>
      </p:sp>
      <p:sp>
        <p:nvSpPr>
          <p:cNvPr id="17" name="TextBox 11"/>
          <p:cNvSpPr txBox="1"/>
          <p:nvPr>
            <p:custDataLst>
              <p:tags r:id="rId8"/>
            </p:custDataLst>
          </p:nvPr>
        </p:nvSpPr>
        <p:spPr>
          <a:xfrm>
            <a:off x="6473952" y="178308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Process PO tables, contracts, invoices, supplier data and compliance rules.</a:t>
            </a:r>
          </a:p>
        </p:txBody>
      </p:sp>
      <p:sp>
        <p:nvSpPr>
          <p:cNvPr id="18" name="Rounded Rectangle 17"/>
          <p:cNvSpPr/>
          <p:nvPr>
            <p:custDataLst>
              <p:tags r:id="rId9"/>
            </p:custDataLst>
          </p:nvPr>
        </p:nvSpPr>
        <p:spPr>
          <a:xfrm>
            <a:off x="685800" y="251460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3"/>
          <p:cNvSpPr/>
          <p:nvPr>
            <p:custDataLst>
              <p:tags r:id="rId10"/>
            </p:custDataLst>
          </p:nvPr>
        </p:nvSpPr>
        <p:spPr>
          <a:xfrm>
            <a:off x="685800" y="2514600"/>
            <a:ext cx="64008" cy="1005840"/>
          </a:xfrm>
          <a:prstGeom prst="rect">
            <a:avLst/>
          </a:prstGeom>
          <a:solidFill>
            <a:srgbClr val="2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4"/>
          <p:cNvSpPr txBox="1"/>
          <p:nvPr>
            <p:custDataLst>
              <p:tags r:id="rId11"/>
            </p:custDataLst>
          </p:nvPr>
        </p:nvSpPr>
        <p:spPr>
          <a:xfrm>
            <a:off x="850392" y="26243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3. Preprocessing &amp; Chunking</a:t>
            </a:r>
          </a:p>
        </p:txBody>
      </p:sp>
      <p:sp>
        <p:nvSpPr>
          <p:cNvPr id="21" name="TextBox 15"/>
          <p:cNvSpPr txBox="1"/>
          <p:nvPr>
            <p:custDataLst>
              <p:tags r:id="rId12"/>
            </p:custDataLst>
          </p:nvPr>
        </p:nvSpPr>
        <p:spPr>
          <a:xfrm>
            <a:off x="850392" y="30175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Clean content, create chunks and attach metadata for retrieval.</a:t>
            </a:r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6309360" y="251460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7"/>
          <p:cNvSpPr/>
          <p:nvPr>
            <p:custDataLst>
              <p:tags r:id="rId14"/>
            </p:custDataLst>
          </p:nvPr>
        </p:nvSpPr>
        <p:spPr>
          <a:xfrm>
            <a:off x="6309360" y="2514600"/>
            <a:ext cx="64008" cy="1005840"/>
          </a:xfrm>
          <a:prstGeom prst="rect">
            <a:avLst/>
          </a:prstGeom>
          <a:solidFill>
            <a:srgbClr val="DE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8"/>
          <p:cNvSpPr txBox="1"/>
          <p:nvPr>
            <p:custDataLst>
              <p:tags r:id="rId15"/>
            </p:custDataLst>
          </p:nvPr>
        </p:nvSpPr>
        <p:spPr>
          <a:xfrm>
            <a:off x="6473952" y="26243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4. Embedding &amp; Vector Store</a:t>
            </a:r>
          </a:p>
        </p:txBody>
      </p:sp>
      <p:sp>
        <p:nvSpPr>
          <p:cNvPr id="25" name="TextBox 19"/>
          <p:cNvSpPr txBox="1"/>
          <p:nvPr>
            <p:custDataLst>
              <p:tags r:id="rId16"/>
            </p:custDataLst>
          </p:nvPr>
        </p:nvSpPr>
        <p:spPr>
          <a:xfrm>
            <a:off x="6473952" y="30175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Generate embeddings and store searchable vectors using FAISS/Qdrant.</a:t>
            </a:r>
          </a:p>
        </p:txBody>
      </p:sp>
      <p:sp>
        <p:nvSpPr>
          <p:cNvPr id="26" name="Rounded Rectangle 25"/>
          <p:cNvSpPr/>
          <p:nvPr>
            <p:custDataLst>
              <p:tags r:id="rId17"/>
            </p:custDataLst>
          </p:nvPr>
        </p:nvSpPr>
        <p:spPr>
          <a:xfrm>
            <a:off x="685800" y="3749039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1"/>
          <p:cNvSpPr/>
          <p:nvPr>
            <p:custDataLst>
              <p:tags r:id="rId18"/>
            </p:custDataLst>
          </p:nvPr>
        </p:nvSpPr>
        <p:spPr>
          <a:xfrm>
            <a:off x="685800" y="3749039"/>
            <a:ext cx="64008" cy="100584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2"/>
          <p:cNvSpPr txBox="1"/>
          <p:nvPr>
            <p:custDataLst>
              <p:tags r:id="rId19"/>
            </p:custDataLst>
          </p:nvPr>
        </p:nvSpPr>
        <p:spPr>
          <a:xfrm>
            <a:off x="850392" y="38587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5. Hybrid RAG Q&amp;A</a:t>
            </a:r>
          </a:p>
        </p:txBody>
      </p:sp>
      <p:sp>
        <p:nvSpPr>
          <p:cNvPr id="29" name="TextBox 23"/>
          <p:cNvSpPr txBox="1"/>
          <p:nvPr>
            <p:custDataLst>
              <p:tags r:id="rId20"/>
            </p:custDataLst>
          </p:nvPr>
        </p:nvSpPr>
        <p:spPr>
          <a:xfrm>
            <a:off x="850392" y="4251959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Retrieve relevant context using semantic retrieval and metadata filtering.</a:t>
            </a:r>
          </a:p>
        </p:txBody>
      </p:sp>
      <p:sp>
        <p:nvSpPr>
          <p:cNvPr id="30" name="Rounded Rectangle 29"/>
          <p:cNvSpPr/>
          <p:nvPr>
            <p:custDataLst>
              <p:tags r:id="rId21"/>
            </p:custDataLst>
          </p:nvPr>
        </p:nvSpPr>
        <p:spPr>
          <a:xfrm>
            <a:off x="6309360" y="3749039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5"/>
          <p:cNvSpPr/>
          <p:nvPr>
            <p:custDataLst>
              <p:tags r:id="rId22"/>
            </p:custDataLst>
          </p:nvPr>
        </p:nvSpPr>
        <p:spPr>
          <a:xfrm>
            <a:off x="6309360" y="3749039"/>
            <a:ext cx="64008" cy="1005840"/>
          </a:xfrm>
          <a:prstGeom prst="rect">
            <a:avLst/>
          </a:prstGeom>
          <a:solidFill>
            <a:srgbClr val="B9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6"/>
          <p:cNvSpPr txBox="1"/>
          <p:nvPr>
            <p:custDataLst>
              <p:tags r:id="rId23"/>
            </p:custDataLst>
          </p:nvPr>
        </p:nvSpPr>
        <p:spPr>
          <a:xfrm>
            <a:off x="6473952" y="38587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6. Compliance Checker</a:t>
            </a:r>
          </a:p>
        </p:txBody>
      </p:sp>
      <p:sp>
        <p:nvSpPr>
          <p:cNvPr id="33" name="TextBox 27"/>
          <p:cNvSpPr txBox="1"/>
          <p:nvPr>
            <p:custDataLst>
              <p:tags r:id="rId24"/>
            </p:custDataLst>
          </p:nvPr>
        </p:nvSpPr>
        <p:spPr>
          <a:xfrm>
            <a:off x="6473952" y="4251959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Evaluate procurement records against compliance and policy rules.</a:t>
            </a:r>
          </a:p>
        </p:txBody>
      </p:sp>
      <p:sp>
        <p:nvSpPr>
          <p:cNvPr id="34" name="Rounded Rectangle 33"/>
          <p:cNvSpPr/>
          <p:nvPr>
            <p:custDataLst>
              <p:tags r:id="rId25"/>
            </p:custDataLst>
          </p:nvPr>
        </p:nvSpPr>
        <p:spPr>
          <a:xfrm>
            <a:off x="685800" y="498348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29"/>
          <p:cNvSpPr/>
          <p:nvPr>
            <p:custDataLst>
              <p:tags r:id="rId26"/>
            </p:custDataLst>
          </p:nvPr>
        </p:nvSpPr>
        <p:spPr>
          <a:xfrm>
            <a:off x="685800" y="4983480"/>
            <a:ext cx="64008" cy="100584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0"/>
          <p:cNvSpPr txBox="1"/>
          <p:nvPr>
            <p:custDataLst>
              <p:tags r:id="rId27"/>
            </p:custDataLst>
          </p:nvPr>
        </p:nvSpPr>
        <p:spPr>
          <a:xfrm>
            <a:off x="850392" y="50932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7. Supplier Analysis</a:t>
            </a:r>
          </a:p>
        </p:txBody>
      </p:sp>
      <p:sp>
        <p:nvSpPr>
          <p:cNvPr id="37" name="TextBox 31"/>
          <p:cNvSpPr txBox="1"/>
          <p:nvPr>
            <p:custDataLst>
              <p:tags r:id="rId28"/>
            </p:custDataLst>
          </p:nvPr>
        </p:nvSpPr>
        <p:spPr>
          <a:xfrm>
            <a:off x="850392" y="54864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Summarize vendor information and support supplier comparison.</a:t>
            </a:r>
          </a:p>
        </p:txBody>
      </p:sp>
      <p:sp>
        <p:nvSpPr>
          <p:cNvPr id="38" name="Rounded Rectangle 37"/>
          <p:cNvSpPr/>
          <p:nvPr>
            <p:custDataLst>
              <p:tags r:id="rId29"/>
            </p:custDataLst>
          </p:nvPr>
        </p:nvSpPr>
        <p:spPr>
          <a:xfrm>
            <a:off x="6309360" y="498348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3"/>
          <p:cNvSpPr/>
          <p:nvPr>
            <p:custDataLst>
              <p:tags r:id="rId30"/>
            </p:custDataLst>
          </p:nvPr>
        </p:nvSpPr>
        <p:spPr>
          <a:xfrm>
            <a:off x="6309360" y="4983480"/>
            <a:ext cx="64008" cy="1005840"/>
          </a:xfrm>
          <a:prstGeom prst="rect">
            <a:avLst/>
          </a:prstGeom>
          <a:solidFill>
            <a:srgbClr val="2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4"/>
          <p:cNvSpPr txBox="1"/>
          <p:nvPr>
            <p:custDataLst>
              <p:tags r:id="rId31"/>
            </p:custDataLst>
          </p:nvPr>
        </p:nvSpPr>
        <p:spPr>
          <a:xfrm>
            <a:off x="6473952" y="50932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8. RFQ Assistant</a:t>
            </a:r>
          </a:p>
        </p:txBody>
      </p:sp>
      <p:sp>
        <p:nvSpPr>
          <p:cNvPr id="41" name="TextBox 35"/>
          <p:cNvSpPr txBox="1"/>
          <p:nvPr>
            <p:custDataLst>
              <p:tags r:id="rId32"/>
            </p:custDataLst>
          </p:nvPr>
        </p:nvSpPr>
        <p:spPr>
          <a:xfrm>
            <a:off x="6473952" y="54864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Generate structured RFQ-related content from procurement requirements.</a:t>
            </a:r>
          </a:p>
        </p:txBody>
      </p:sp>
      <p:sp>
        <p:nvSpPr>
          <p:cNvPr id="42" name="Rectangle 3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37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44" name="TextBox 38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525885" cy="3837940"/>
          </a:xfrm>
        </p:spPr>
        <p:txBody>
          <a:bodyPr/>
          <a:lstStyle/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Procurement information is distributed across spreadsheets, purchase orders, contracts, invoices and policy documents.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Traditional keyword search may miss semantically relevant information and requires users to know where the information is stored.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Procurement staff need faster answers about PO status, supplier details, policy requirements and compliance conditions.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Manual compliance verification can be repetitive and difficult when multiple rules and documents must be considered.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RFQ preparation and supplier analysis require combining information from different sources.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Therefore, there is a need for a domain-focused procurement assistant that combines structured data, document retrieval, policy checks and generative AI.</a:t>
            </a: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7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D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14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1. User Query</a:t>
            </a:r>
            <a:br/>
            <a:r>
              <a:t>Question / procurement request</a:t>
            </a:r>
          </a:p>
        </p:txBody>
      </p:sp>
      <p:cxnSp>
        <p:nvCxnSpPr>
          <p:cNvPr id="12" name="Connector 5"/>
          <p:cNvCxnSpPr/>
          <p:nvPr/>
        </p:nvCxnSpPr>
        <p:spPr>
          <a:xfrm>
            <a:off x="2953512" y="1984248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6"/>
          <p:cNvCxnSpPr/>
          <p:nvPr/>
        </p:nvCxnSpPr>
        <p:spPr>
          <a:xfrm>
            <a:off x="1719072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10712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3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2. FastAPI Routing</a:t>
            </a:r>
            <a:br/>
            <a:r>
              <a:t>API receives and routes the request</a:t>
            </a:r>
          </a:p>
        </p:txBody>
      </p:sp>
      <p:cxnSp>
        <p:nvCxnSpPr>
          <p:cNvPr id="15" name="Connector 8"/>
          <p:cNvCxnSpPr/>
          <p:nvPr/>
        </p:nvCxnSpPr>
        <p:spPr>
          <a:xfrm>
            <a:off x="5861304" y="1984248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9"/>
          <p:cNvCxnSpPr/>
          <p:nvPr/>
        </p:nvCxnSpPr>
        <p:spPr>
          <a:xfrm>
            <a:off x="4626864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18504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E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3. Query Processing</a:t>
            </a:r>
            <a:br/>
            <a:r>
              <a:t>Identify procurement intent and retrieval needs</a:t>
            </a:r>
          </a:p>
        </p:txBody>
      </p:sp>
      <p:cxnSp>
        <p:nvCxnSpPr>
          <p:cNvPr id="18" name="Connector 11"/>
          <p:cNvCxnSpPr/>
          <p:nvPr/>
        </p:nvCxnSpPr>
        <p:spPr>
          <a:xfrm>
            <a:off x="8769096" y="1984248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2"/>
          <p:cNvCxnSpPr/>
          <p:nvPr/>
        </p:nvCxnSpPr>
        <p:spPr>
          <a:xfrm>
            <a:off x="7534656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26296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4. Knowledge Retrieval</a:t>
            </a:r>
            <a:br/>
            <a:r>
              <a:t>Search vectors + metadata-filtered records</a:t>
            </a:r>
          </a:p>
        </p:txBody>
      </p:sp>
      <p:cxnSp>
        <p:nvCxnSpPr>
          <p:cNvPr id="21" name="Connector 14"/>
          <p:cNvCxnSpPr/>
          <p:nvPr/>
        </p:nvCxnSpPr>
        <p:spPr>
          <a:xfrm>
            <a:off x="10442448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14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5. Context Formation</a:t>
            </a:r>
            <a:br/>
            <a:r>
              <a:t>Build grounded context from relevant sources</a:t>
            </a:r>
          </a:p>
        </p:txBody>
      </p:sp>
      <p:cxnSp>
        <p:nvCxnSpPr>
          <p:cNvPr id="23" name="Connector 16"/>
          <p:cNvCxnSpPr/>
          <p:nvPr/>
        </p:nvCxnSpPr>
        <p:spPr>
          <a:xfrm>
            <a:off x="2953512" y="3904487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10712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3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6. LLM Generation</a:t>
            </a:r>
            <a:br/>
            <a:r>
              <a:t>Ollama / Llama 3 generates the response</a:t>
            </a:r>
          </a:p>
        </p:txBody>
      </p:sp>
      <p:cxnSp>
        <p:nvCxnSpPr>
          <p:cNvPr id="25" name="Connector 18"/>
          <p:cNvCxnSpPr/>
          <p:nvPr/>
        </p:nvCxnSpPr>
        <p:spPr>
          <a:xfrm>
            <a:off x="5861304" y="3904487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18504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7. Business Logic</a:t>
            </a:r>
            <a:br/>
            <a:r>
              <a:t>Compliance, supplier or RFQ processing</a:t>
            </a:r>
          </a:p>
        </p:txBody>
      </p:sp>
      <p:cxnSp>
        <p:nvCxnSpPr>
          <p:cNvPr id="27" name="Connector 20"/>
          <p:cNvCxnSpPr/>
          <p:nvPr/>
        </p:nvCxnSpPr>
        <p:spPr>
          <a:xfrm>
            <a:off x="8769096" y="3904487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26296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8. Response</a:t>
            </a:r>
            <a:br/>
            <a:r>
              <a:t>Structured result returned to React</a:t>
            </a:r>
          </a:p>
        </p:txBody>
      </p:sp>
      <p:sp>
        <p:nvSpPr>
          <p:cNvPr id="29" name="Rectangle 22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3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31" name="TextBox 24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Algorithms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37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85800" y="1234440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5"/>
          <p:cNvSpPr/>
          <p:nvPr/>
        </p:nvSpPr>
        <p:spPr>
          <a:xfrm>
            <a:off x="685800" y="1234440"/>
            <a:ext cx="64008" cy="59436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6"/>
          <p:cNvSpPr txBox="1"/>
          <p:nvPr/>
        </p:nvSpPr>
        <p:spPr>
          <a:xfrm>
            <a:off x="850392" y="1344168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1. Data Ingestion</a:t>
            </a:r>
          </a:p>
        </p:txBody>
      </p:sp>
      <p:sp>
        <p:nvSpPr>
          <p:cNvPr id="43" name="TextBox 7"/>
          <p:cNvSpPr txBox="1"/>
          <p:nvPr/>
        </p:nvSpPr>
        <p:spPr>
          <a:xfrm>
            <a:off x="850392" y="1737360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Load procurement CSV/tables and process supported procurement documents.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1984248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9"/>
          <p:cNvSpPr/>
          <p:nvPr/>
        </p:nvSpPr>
        <p:spPr>
          <a:xfrm>
            <a:off x="685800" y="1984248"/>
            <a:ext cx="64008" cy="59436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0"/>
          <p:cNvSpPr txBox="1"/>
          <p:nvPr/>
        </p:nvSpPr>
        <p:spPr>
          <a:xfrm>
            <a:off x="850392" y="2093976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2. Cleaning &amp; Normalization</a:t>
            </a:r>
          </a:p>
        </p:txBody>
      </p:sp>
      <p:sp>
        <p:nvSpPr>
          <p:cNvPr id="47" name="TextBox 11"/>
          <p:cNvSpPr txBox="1"/>
          <p:nvPr/>
        </p:nvSpPr>
        <p:spPr>
          <a:xfrm>
            <a:off x="850392" y="2487168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Normalize fields, remove noise and prepare consistent records.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2734056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3"/>
          <p:cNvSpPr/>
          <p:nvPr/>
        </p:nvSpPr>
        <p:spPr>
          <a:xfrm>
            <a:off x="685800" y="2734056"/>
            <a:ext cx="64008" cy="59436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4"/>
          <p:cNvSpPr txBox="1"/>
          <p:nvPr/>
        </p:nvSpPr>
        <p:spPr>
          <a:xfrm>
            <a:off x="850392" y="2843784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3. Chunking</a:t>
            </a:r>
          </a:p>
        </p:txBody>
      </p:sp>
      <p:sp>
        <p:nvSpPr>
          <p:cNvPr id="51" name="TextBox 15"/>
          <p:cNvSpPr txBox="1"/>
          <p:nvPr/>
        </p:nvSpPr>
        <p:spPr>
          <a:xfrm>
            <a:off x="850392" y="3236976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Split long textual content into retrieval-friendly chunks.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3483864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7"/>
          <p:cNvSpPr/>
          <p:nvPr/>
        </p:nvSpPr>
        <p:spPr>
          <a:xfrm>
            <a:off x="685800" y="3483864"/>
            <a:ext cx="64008" cy="59436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8"/>
          <p:cNvSpPr txBox="1"/>
          <p:nvPr/>
        </p:nvSpPr>
        <p:spPr>
          <a:xfrm>
            <a:off x="850392" y="3593592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4. Metadata Extraction</a:t>
            </a:r>
          </a:p>
        </p:txBody>
      </p:sp>
      <p:sp>
        <p:nvSpPr>
          <p:cNvPr id="55" name="TextBox 19"/>
          <p:cNvSpPr txBox="1"/>
          <p:nvPr/>
        </p:nvSpPr>
        <p:spPr>
          <a:xfrm>
            <a:off x="850392" y="3986784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Attach identifiers such as PO/vendor/category/document metadata.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4233672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21"/>
          <p:cNvSpPr/>
          <p:nvPr/>
        </p:nvSpPr>
        <p:spPr>
          <a:xfrm>
            <a:off x="685800" y="4233672"/>
            <a:ext cx="64008" cy="59436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22"/>
          <p:cNvSpPr txBox="1"/>
          <p:nvPr/>
        </p:nvSpPr>
        <p:spPr>
          <a:xfrm>
            <a:off x="850392" y="4343400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5. Embedding Generation</a:t>
            </a:r>
          </a:p>
        </p:txBody>
      </p:sp>
      <p:sp>
        <p:nvSpPr>
          <p:cNvPr id="59" name="TextBox 23"/>
          <p:cNvSpPr txBox="1"/>
          <p:nvPr/>
        </p:nvSpPr>
        <p:spPr>
          <a:xfrm>
            <a:off x="850392" y="4736592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Convert text chunks into vector representations using an embedding model.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4983479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25"/>
          <p:cNvSpPr/>
          <p:nvPr/>
        </p:nvSpPr>
        <p:spPr>
          <a:xfrm>
            <a:off x="685800" y="4983479"/>
            <a:ext cx="64008" cy="59436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6"/>
          <p:cNvSpPr txBox="1"/>
          <p:nvPr/>
        </p:nvSpPr>
        <p:spPr>
          <a:xfrm>
            <a:off x="850392" y="5093207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6. Vector Indexing</a:t>
            </a:r>
          </a:p>
        </p:txBody>
      </p:sp>
      <p:sp>
        <p:nvSpPr>
          <p:cNvPr id="63" name="TextBox 27"/>
          <p:cNvSpPr txBox="1"/>
          <p:nvPr/>
        </p:nvSpPr>
        <p:spPr>
          <a:xfrm>
            <a:off x="850392" y="5486399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Store embeddings for efficient semantic retrieval in FAISS/Qdrant.</a:t>
            </a:r>
          </a:p>
        </p:txBody>
      </p:sp>
      <p:sp>
        <p:nvSpPr>
          <p:cNvPr id="64" name="Rectangle 2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2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66" name="TextBox 30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D"/>
                </a:solidFill>
                <a:latin typeface="Aptos Display"/>
              </a:defRPr>
            </a:pPr>
            <a:r>
              <a:t>Algorithms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5B97"/>
                </a:solidFill>
                <a:latin typeface="Aptos"/>
              </a:defRPr>
            </a:pPr>
            <a:r>
              <a:t>RAG, business logic and response generation</a:t>
            </a: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685800" y="128016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5"/>
          <p:cNvSpPr/>
          <p:nvPr>
            <p:custDataLst>
              <p:tags r:id="rId2"/>
            </p:custDataLst>
          </p:nvPr>
        </p:nvSpPr>
        <p:spPr>
          <a:xfrm>
            <a:off x="685800" y="1280160"/>
            <a:ext cx="64008" cy="109728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>
            <p:custDataLst>
              <p:tags r:id="rId3"/>
            </p:custDataLst>
          </p:nvPr>
        </p:nvSpPr>
        <p:spPr>
          <a:xfrm>
            <a:off x="850392" y="138988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7. Hybrid Retrieval</a:t>
            </a:r>
          </a:p>
        </p:txBody>
      </p:sp>
      <p:sp>
        <p:nvSpPr>
          <p:cNvPr id="10" name="TextBox 7"/>
          <p:cNvSpPr txBox="1"/>
          <p:nvPr>
            <p:custDataLst>
              <p:tags r:id="rId4"/>
            </p:custDataLst>
          </p:nvPr>
        </p:nvSpPr>
        <p:spPr>
          <a:xfrm>
            <a:off x="850392" y="178308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Combine semantic similarity with metadata-aware filtering to identify relevant procurement context.</a:t>
            </a: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6263640" y="128016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9"/>
          <p:cNvSpPr/>
          <p:nvPr>
            <p:custDataLst>
              <p:tags r:id="rId6"/>
            </p:custDataLst>
          </p:nvPr>
        </p:nvSpPr>
        <p:spPr>
          <a:xfrm>
            <a:off x="6263640" y="1280160"/>
            <a:ext cx="64008" cy="109728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0"/>
          <p:cNvSpPr txBox="1"/>
          <p:nvPr>
            <p:custDataLst>
              <p:tags r:id="rId7"/>
            </p:custDataLst>
          </p:nvPr>
        </p:nvSpPr>
        <p:spPr>
          <a:xfrm>
            <a:off x="6428231" y="138988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8. Context Formation</a:t>
            </a:r>
          </a:p>
        </p:txBody>
      </p:sp>
      <p:sp>
        <p:nvSpPr>
          <p:cNvPr id="14" name="TextBox 11"/>
          <p:cNvSpPr txBox="1"/>
          <p:nvPr>
            <p:custDataLst>
              <p:tags r:id="rId8"/>
            </p:custDataLst>
          </p:nvPr>
        </p:nvSpPr>
        <p:spPr>
          <a:xfrm>
            <a:off x="6428231" y="178308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Assemble retrieved records/documents into a controlled prompt context.</a:t>
            </a: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685800" y="2606039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3"/>
          <p:cNvSpPr/>
          <p:nvPr>
            <p:custDataLst>
              <p:tags r:id="rId10"/>
            </p:custDataLst>
          </p:nvPr>
        </p:nvSpPr>
        <p:spPr>
          <a:xfrm>
            <a:off x="685800" y="2606039"/>
            <a:ext cx="64008" cy="1097280"/>
          </a:xfrm>
          <a:prstGeom prst="rect">
            <a:avLst/>
          </a:prstGeom>
          <a:solidFill>
            <a:srgbClr val="2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4"/>
          <p:cNvSpPr txBox="1"/>
          <p:nvPr>
            <p:custDataLst>
              <p:tags r:id="rId11"/>
            </p:custDataLst>
          </p:nvPr>
        </p:nvSpPr>
        <p:spPr>
          <a:xfrm>
            <a:off x="850392" y="2715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9. Generative AI Processing</a:t>
            </a:r>
          </a:p>
        </p:txBody>
      </p:sp>
      <p:sp>
        <p:nvSpPr>
          <p:cNvPr id="18" name="TextBox 15"/>
          <p:cNvSpPr txBox="1"/>
          <p:nvPr>
            <p:custDataLst>
              <p:tags r:id="rId12"/>
            </p:custDataLst>
          </p:nvPr>
        </p:nvSpPr>
        <p:spPr>
          <a:xfrm>
            <a:off x="850392" y="3108959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Use Ollama-hosted Llama 3 to generate a domain-focused response.</a:t>
            </a: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6263640" y="2606039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7"/>
          <p:cNvSpPr/>
          <p:nvPr>
            <p:custDataLst>
              <p:tags r:id="rId14"/>
            </p:custDataLst>
          </p:nvPr>
        </p:nvSpPr>
        <p:spPr>
          <a:xfrm>
            <a:off x="6263640" y="2606039"/>
            <a:ext cx="64008" cy="1097280"/>
          </a:xfrm>
          <a:prstGeom prst="rect">
            <a:avLst/>
          </a:prstGeom>
          <a:solidFill>
            <a:srgbClr val="B9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8"/>
          <p:cNvSpPr txBox="1"/>
          <p:nvPr>
            <p:custDataLst>
              <p:tags r:id="rId15"/>
            </p:custDataLst>
          </p:nvPr>
        </p:nvSpPr>
        <p:spPr>
          <a:xfrm>
            <a:off x="6428231" y="2715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10. Compliance Evaluation</a:t>
            </a:r>
          </a:p>
        </p:txBody>
      </p:sp>
      <p:sp>
        <p:nvSpPr>
          <p:cNvPr id="22" name="TextBox 19"/>
          <p:cNvSpPr txBox="1"/>
          <p:nvPr>
            <p:custDataLst>
              <p:tags r:id="rId16"/>
            </p:custDataLst>
          </p:nvPr>
        </p:nvSpPr>
        <p:spPr>
          <a:xfrm>
            <a:off x="6428231" y="3108959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Compare relevant procurement details against configured compliance rules.</a:t>
            </a:r>
          </a:p>
        </p:txBody>
      </p:sp>
      <p:sp>
        <p:nvSpPr>
          <p:cNvPr id="23" name="Rounded Rectangle 22"/>
          <p:cNvSpPr/>
          <p:nvPr>
            <p:custDataLst>
              <p:tags r:id="rId17"/>
            </p:custDataLst>
          </p:nvPr>
        </p:nvSpPr>
        <p:spPr>
          <a:xfrm>
            <a:off x="685800" y="393192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1"/>
          <p:cNvSpPr/>
          <p:nvPr>
            <p:custDataLst>
              <p:tags r:id="rId18"/>
            </p:custDataLst>
          </p:nvPr>
        </p:nvSpPr>
        <p:spPr>
          <a:xfrm>
            <a:off x="685800" y="3931920"/>
            <a:ext cx="64008" cy="1097280"/>
          </a:xfrm>
          <a:prstGeom prst="rect">
            <a:avLst/>
          </a:prstGeom>
          <a:solidFill>
            <a:srgbClr val="DE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2"/>
          <p:cNvSpPr txBox="1"/>
          <p:nvPr>
            <p:custDataLst>
              <p:tags r:id="rId19"/>
            </p:custDataLst>
          </p:nvPr>
        </p:nvSpPr>
        <p:spPr>
          <a:xfrm>
            <a:off x="850392" y="40416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11. RFQ / Supplier Processing</a:t>
            </a:r>
          </a:p>
        </p:txBody>
      </p:sp>
      <p:sp>
        <p:nvSpPr>
          <p:cNvPr id="26" name="TextBox 23"/>
          <p:cNvSpPr txBox="1"/>
          <p:nvPr>
            <p:custDataLst>
              <p:tags r:id="rId20"/>
            </p:custDataLst>
          </p:nvPr>
        </p:nvSpPr>
        <p:spPr>
          <a:xfrm>
            <a:off x="850392" y="443484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Generate RFQ drafts and supplier-focused summaries from retrieved context.</a:t>
            </a:r>
          </a:p>
        </p:txBody>
      </p:sp>
      <p:sp>
        <p:nvSpPr>
          <p:cNvPr id="27" name="Rounded Rectangle 26"/>
          <p:cNvSpPr/>
          <p:nvPr>
            <p:custDataLst>
              <p:tags r:id="rId21"/>
            </p:custDataLst>
          </p:nvPr>
        </p:nvSpPr>
        <p:spPr>
          <a:xfrm>
            <a:off x="6263640" y="393192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5"/>
          <p:cNvSpPr/>
          <p:nvPr>
            <p:custDataLst>
              <p:tags r:id="rId22"/>
            </p:custDataLst>
          </p:nvPr>
        </p:nvSpPr>
        <p:spPr>
          <a:xfrm>
            <a:off x="6263640" y="3931920"/>
            <a:ext cx="64008" cy="109728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6"/>
          <p:cNvSpPr txBox="1"/>
          <p:nvPr>
            <p:custDataLst>
              <p:tags r:id="rId23"/>
            </p:custDataLst>
          </p:nvPr>
        </p:nvSpPr>
        <p:spPr>
          <a:xfrm>
            <a:off x="6428231" y="40416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12. Grounded Response</a:t>
            </a:r>
          </a:p>
        </p:txBody>
      </p:sp>
      <p:sp>
        <p:nvSpPr>
          <p:cNvPr id="30" name="TextBox 27"/>
          <p:cNvSpPr txBox="1"/>
          <p:nvPr>
            <p:custDataLst>
              <p:tags r:id="rId24"/>
            </p:custDataLst>
          </p:nvPr>
        </p:nvSpPr>
        <p:spPr>
          <a:xfrm>
            <a:off x="6428231" y="443484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Return the answer and supporting procurement context to the React interface.</a:t>
            </a:r>
          </a:p>
        </p:txBody>
      </p:sp>
      <p:sp>
        <p:nvSpPr>
          <p:cNvPr id="31" name="Rectangle 2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33" name="TextBox 30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1274" y="43150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A44D31-8D1F-7B63-E06C-15623855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2" y="1271219"/>
            <a:ext cx="10431331" cy="50013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603DFA-6D1A-A0A2-5BC5-CCF882FE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10" y="1385140"/>
            <a:ext cx="10624338" cy="4887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0CA8CD-6C67-60C3-F300-88AB8CADD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70" y="1426030"/>
            <a:ext cx="10020363" cy="4822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6DAE8-85E9-3B1C-FB29-16031219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1467069"/>
            <a:ext cx="10711543" cy="3923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6973F-8CA3-8E7C-EEF5-7060AECD7C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+mn-lt"/>
              </a:rPr>
              <a:t>Findings and Results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BB402-9916-914F-DAFB-5344C159B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8" y="1589314"/>
            <a:ext cx="9535885" cy="452398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18488-5224-4BDE-2688-663E41BE364A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23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294745" cy="4142740"/>
          </a:xfrm>
        </p:spPr>
        <p:txBody>
          <a:bodyPr/>
          <a:lstStyle/>
          <a:p>
            <a:pPr marL="0" indent="0" algn="just">
              <a:buNone/>
            </a:pPr>
            <a:r>
              <a:rPr sz="2400" b="0">
                <a:solidFill>
                  <a:schemeClr val="tx1"/>
                </a:solidFill>
                <a:latin typeface="Calibri" panose="020F0502020204030204" pitchFamily="34" charset="0"/>
                <a:sym typeface="+mn-ea"/>
              </a:rPr>
              <a:t>Procure Bot provides an intelligent procurement assistance layer by combining procurement data, Retrieval-Augmented Generation, vector search and a local large language model. The platform is designed to reduce the effort required to locate procurement information and to support practical workflows such as PO Q&amp;A, compliance checking, supplier analysis and RFQ drafting. The React frontend and FastAPI backend provide a modular foundation for extending the system into a complete procurement workspace. The updated dashboard direction further improves the product experience by presenting procurement KPIs, analytics, quick actions and recent activity in an enterprise-oriented interface.</a:t>
            </a:r>
          </a:p>
          <a:p>
            <a:pPr marL="0" indent="0" algn="just">
              <a:buNone/>
            </a:pP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I sincerely thank LTM and L&amp;T </a:t>
            </a:r>
            <a:r>
              <a:rPr lang="en-IN" sz="2400" b="0" dirty="0" err="1">
                <a:solidFill>
                  <a:schemeClr val="tx1"/>
                </a:solidFill>
                <a:latin typeface="Calibri" panose="020F0502020204030204" pitchFamily="34" charset="0"/>
              </a:rPr>
              <a:t>EduTech</a:t>
            </a:r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 for providing the infrastructure, laptop, training room, ID card, and a valuable 2-month opportunity to enhance my technical skills through practical project development.</a:t>
            </a:r>
          </a:p>
          <a:p>
            <a:pPr algn="just"/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 I express my special gratitude to Dr. Ganesh for his continuous guidance, valuable suggestions, and support in improving my project. I also thank the Classroom Managers for their daily monitoring, coordination, and assistance in resolving issues. Finally, my special thanks to Mr. Jayakanthan, Manager – Delivery Operations, L&amp;T </a:t>
            </a:r>
            <a:r>
              <a:rPr lang="en-IN" sz="2400" b="0" dirty="0" err="1">
                <a:solidFill>
                  <a:schemeClr val="tx1"/>
                </a:solidFill>
                <a:latin typeface="Calibri" panose="020F0502020204030204" pitchFamily="34" charset="0"/>
              </a:rPr>
              <a:t>EduTech</a:t>
            </a:r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, for his encouragement, support, and for providing this valuable opportunity.</a:t>
            </a:r>
          </a:p>
          <a:p>
            <a:pPr marL="0" indent="0" algn="just">
              <a:buNone/>
            </a:pPr>
            <a:endParaRPr lang="en-US" sz="20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/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568430" cy="4142740"/>
          </a:xfrm>
        </p:spPr>
        <p:txBody>
          <a:bodyPr/>
          <a:lstStyle/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 [1] Guida, M., Caniato, F., Moretto, A., &amp; Ronchi, S. (2023). The role of artificial intelligence in the procurement process: State of the art and research agenda. Journal of Purchasing and Supply Management, 29(2), 100823. DOI: 10.1016/j.pursup.2023.100823.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[2] Spreitzenbarth, J. M., Bode, C., &amp; Stuckenschmidt, H. (2024). Artificial intelligence and machine learning in purchasing and supply management: A mixed-methods review of the state-of-the-art in literature and practice. Journal of Purchasing and Supply Management, 30(1), 100896.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[3] Brandtner, P., &amp; Hofer, F. (2026). Enhancing Procurement Processes in Supply Chain Management with Large Language Models. Procedia Computer Science, 278, 308–315. DOI: 10.1016/j.procs.2026.02.467.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[4] Joshi, A., Singh, M., Parashar, D., et al. (2026). A multi-agent large language model framework for intelligent vendor evaluation and risk-aware procurement decisions. Scientific Reports, 16, 19826. DOI: 10.1038/s41598-026-50952-x.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1304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Syed Ali Fathima S</cp:lastModifiedBy>
  <cp:revision>45</cp:revision>
  <dcterms:created xsi:type="dcterms:W3CDTF">2024-05-13T10:33:00Z</dcterms:created>
  <dcterms:modified xsi:type="dcterms:W3CDTF">2026-10-07T19:57:17Z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ICV">
    <vt:lpwstr>F94AA9C9D2D04E82832E25DEECA67C37_13</vt:lpwstr>
  </property>
  <property fmtid="{D5CDD505-2E9C-101B-9397-08002B2CF9AE}" pid="13" name="KSOProductBuildVer">
    <vt:lpwstr>2057-12.2.0.23206</vt:lpwstr>
  </property>
</Properties>
</file>